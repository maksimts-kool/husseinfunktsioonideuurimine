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Public Sans" pitchFamily="2" charset="0"/>
      <p:regular r:id="rId15"/>
      <p:bold r:id="rId16"/>
    </p:embeddedFont>
    <p:embeddedFont>
      <p:font typeface="Space Grotesk" pitchFamily="2"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4"/>
    <p:restoredTop sz="94596"/>
  </p:normalViewPr>
  <p:slideViewPr>
    <p:cSldViewPr snapToGrid="0" snapToObjects="1">
      <p:cViewPr varScale="1">
        <p:scale>
          <a:sx n="140" d="100"/>
          <a:sy n="140"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321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Tere! Testisin Husseini veebirakendust, mis uurib matemaatilisi funktsioone.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Kuidas kirjutatakse sisse valemi ja kuidas rakendus leiab selle funktsiooni omadused: nullkohad, tuletised, suurimad ja vähimad väärtused. Veel joonistab graafiku. Kõik funktsioonid salvestatakse andmebaasi.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Testisin nelja moodi. Kasutasin rakendust nagu tavaline kasutaja ja vaatasin, kas tulemus on see, mida ootan. Siis proovisin piirjuhte ja kirjutasin matemaatika jaoks automaatsed testid.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Kokku tegin 55 testjuhtumit. Neist 43 läksid täiesti läbi. Kuuel juhul leidsin vea. Veel kuuel juhul töötas asi ainult osaliselt.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Kõik põhilised asjad töötavad: funktsiooni saab lisada, muuta ja kustutada. Kui valem on vale, ütleb rakendus seda selgelt eesti keeles. Graafik on tehtud õigesti, näiteks 1/x puhul joon katkeb nullis, nagu peab. Juhendi kontrollfunktsioonid arvutati kõik õigesti ja boonusülesanne on tehtud.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Kokku leidsin 11 viga. Kriitilisi ei olnud, Kuid üks viga oli tõsine.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Kõige tõsisem viga tekib, kui sisestada valem x astmes x. Rakendus ei näita veateadet, vaid avab inglisekeelse vealehe koos koodi detailidega. Põhjus on see, et kood ei oska sellega midagi peale teha. Tavakasutaja ei saa sellest aru, mis valesti läks.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Ülejäänud vead on väiksemad. Mõnel erijuhul annab rakendus vale vastuse. Tuletise graafikut ei näidata, kuigi ülesanne seda nõudis. Telefonis ei mahu Teooria leht ekraanile ja ilma internetita graafik ei ilmu üldse.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Kirjutasin ka üheksa automaatset testi, mis kontrollivad tuletist. Seitse läksid läbi. Kaks kukkusid läbi ja need on täpselt needsamad vead, millest just rääkisin: x jagatud x ja x astmes 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Kokku andsin tööle 84 punkti sajast ja boonusülesande eest veel 13 punkti. Kõige rohkem punkte läks kaotsi graafiku ja kasutajaliidese juures.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Kõige tähtsam on vigu korralikult käsitleda, et kasutaja näeks eestikeelset teadet, mitte koodiga vealehte. Teiseks tuleks lisada puuduv tuletise graafik.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Kokkuvõtteks: rakendus on hästi tehtud. Vead tulevad välja pigem erijuhtudel. (Ise õppisin selle töö käigus koostama testjuhtumeid, kirjutama vearaporteid ja lugema teise inimese koodi). Aitäh.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5233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5233F"/>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5233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5233F"/>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F"/>
        </a:solidFill>
        <a:effectLst/>
      </p:bgPr>
    </p:bg>
    <p:spTree>
      <p:nvGrpSpPr>
        <p:cNvPr id="1" name=""/>
        <p:cNvGrpSpPr/>
        <p:nvPr/>
      </p:nvGrpSpPr>
      <p:grpSpPr>
        <a:xfrm>
          <a:off x="0" y="0"/>
          <a:ext cx="0" cy="0"/>
          <a:chOff x="0" y="0"/>
          <a:chExt cx="0" cy="0"/>
        </a:xfrm>
      </p:grpSpPr>
      <p:pic>
        <p:nvPicPr>
          <p:cNvPr id="2" name="Image 0" descr="Illustratsioon: funktsiooni graafik üle kogu slaidi, mida uuritakse luubiga, ja roheline linnuke"/>
          <p:cNvPicPr>
            <a:picLocks noChangeAspect="1"/>
          </p:cNvPicPr>
          <p:nvPr/>
        </p:nvPicPr>
        <p:blipFill>
          <a:blip r:embed="rId3"/>
          <a:srcRect/>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5233F">
                  <a:alpha val="96000"/>
                </a:srgbClr>
              </a:gs>
              <a:gs pos="40000">
                <a:srgbClr val="15233F">
                  <a:alpha val="85000"/>
                </a:srgbClr>
              </a:gs>
              <a:gs pos="70000">
                <a:srgbClr val="15233F">
                  <a:alpha val="0"/>
                </a:srgbClr>
              </a:gs>
            </a:gsLst>
            <a:lin ang="0" scaled="0"/>
          </a:gradFill>
          <a:ln/>
        </p:spPr>
      </p:sp>
      <p:sp>
        <p:nvSpPr>
          <p:cNvPr id="4" name="Text 1"/>
          <p:cNvSpPr>
            <a:spLocks noGrp="1"/>
          </p:cNvSpPr>
          <p:nvPr>
            <p:ph type="title"/>
          </p:nvPr>
        </p:nvSpPr>
        <p:spPr>
          <a:xfrm>
            <a:off x="812800" y="1914525"/>
            <a:ext cx="6540500" cy="17018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6F5F0"/>
                </a:solidFill>
                <a:latin typeface="Space Grotesk" pitchFamily="34" charset="0"/>
                <a:ea typeface="Space Grotesk" pitchFamily="34" charset="-122"/>
                <a:cs typeface="Space Grotesk" pitchFamily="34" charset="-120"/>
              </a:rPr>
              <a:t>Husseini funktsioonide uurimise veebirakenduse testimine</a:t>
            </a:r>
            <a:endParaRPr lang="en-US" sz="4000" dirty="0"/>
          </a:p>
        </p:txBody>
      </p:sp>
      <p:sp>
        <p:nvSpPr>
          <p:cNvPr id="5" name="Text 2"/>
          <p:cNvSpPr/>
          <p:nvPr/>
        </p:nvSpPr>
        <p:spPr>
          <a:xfrm>
            <a:off x="812800" y="3844925"/>
            <a:ext cx="65405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5F0"/>
                </a:solidFill>
                <a:latin typeface="Public Sans" pitchFamily="34" charset="0"/>
                <a:ea typeface="Public Sans" pitchFamily="34" charset="-122"/>
                <a:cs typeface="Public Sans" pitchFamily="34" charset="-120"/>
              </a:rPr>
              <a:t>Tegi: Maksim Tsikvasvili</a:t>
            </a:r>
            <a:endParaRPr lang="en-US" sz="1600" dirty="0"/>
          </a:p>
        </p:txBody>
      </p:sp>
      <p:sp>
        <p:nvSpPr>
          <p:cNvPr id="6" name="Text 3"/>
          <p:cNvSpPr/>
          <p:nvPr/>
        </p:nvSpPr>
        <p:spPr>
          <a:xfrm>
            <a:off x="812800" y="4192885"/>
            <a:ext cx="65405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9"/>
                </a:solidFill>
                <a:latin typeface="Public Sans" pitchFamily="34" charset="0"/>
                <a:ea typeface="Public Sans" pitchFamily="34" charset="-122"/>
                <a:cs typeface="Public Sans" pitchFamily="34" charset="-120"/>
              </a:rPr>
              <a:t>Juhendaja: Marina Oleinik</a:t>
            </a:r>
            <a:endParaRPr lang="en-US" sz="1400" dirty="0"/>
          </a:p>
        </p:txBody>
      </p:sp>
      <p:sp>
        <p:nvSpPr>
          <p:cNvPr id="7" name="Text 4"/>
          <p:cNvSpPr/>
          <p:nvPr/>
        </p:nvSpPr>
        <p:spPr>
          <a:xfrm>
            <a:off x="812800" y="4695775"/>
            <a:ext cx="6540500"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FFFFF"/>
                </a:solidFill>
                <a:latin typeface="Public Sans" pitchFamily="34" charset="0"/>
                <a:ea typeface="Public Sans" pitchFamily="34" charset="-122"/>
                <a:cs typeface="Public Sans" pitchFamily="34" charset="-120"/>
              </a:rPr>
              <a:t>TARpv24</a:t>
            </a:r>
            <a:endParaRPr lang="en-US" sz="15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233F"/>
                </a:solidFill>
                <a:latin typeface="Space Grotesk" pitchFamily="34" charset="0"/>
                <a:ea typeface="Space Grotesk" pitchFamily="34" charset="-122"/>
                <a:cs typeface="Space Grotesk" pitchFamily="34" charset="-120"/>
              </a:rPr>
              <a:t>Mida testiti?</a:t>
            </a:r>
            <a:endParaRPr lang="en-US" sz="3600" dirty="0"/>
          </a:p>
        </p:txBody>
      </p:sp>
      <p:pic>
        <p:nvPicPr>
          <p:cNvPr id="3" name="Image 0" descr="Globe"/>
          <p:cNvPicPr>
            <a:picLocks noChangeAspect="1"/>
          </p:cNvPicPr>
          <p:nvPr/>
        </p:nvPicPr>
        <p:blipFill>
          <a:blip r:embed="rId3"/>
          <a:srcRect/>
          <a:stretch/>
        </p:blipFill>
        <p:spPr>
          <a:xfrm>
            <a:off x="812800" y="2607965"/>
            <a:ext cx="355600" cy="355600"/>
          </a:xfrm>
          <a:prstGeom prst="rect">
            <a:avLst/>
          </a:prstGeom>
        </p:spPr>
      </p:pic>
      <p:sp>
        <p:nvSpPr>
          <p:cNvPr id="4" name="Text 1"/>
          <p:cNvSpPr/>
          <p:nvPr/>
        </p:nvSpPr>
        <p:spPr>
          <a:xfrm>
            <a:off x="1346200" y="2637185"/>
            <a:ext cx="495300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Veebirakendus, mis uurib funktsiooni </a:t>
            </a:r>
            <a:r>
              <a:rPr lang="en-US" sz="1800" b="1" dirty="0">
                <a:solidFill>
                  <a:srgbClr val="15233F"/>
                </a:solidFill>
                <a:latin typeface="Public Sans" pitchFamily="34" charset="0"/>
                <a:ea typeface="Public Sans" pitchFamily="34" charset="-122"/>
                <a:cs typeface="Public Sans" pitchFamily="34" charset="-120"/>
              </a:rPr>
              <a:t>f(x)</a:t>
            </a:r>
            <a:endParaRPr lang="en-US" sz="1800" dirty="0"/>
          </a:p>
        </p:txBody>
      </p:sp>
      <p:pic>
        <p:nvPicPr>
          <p:cNvPr id="5" name="Image 1" descr="Search"/>
          <p:cNvPicPr>
            <a:picLocks noChangeAspect="1"/>
          </p:cNvPicPr>
          <p:nvPr/>
        </p:nvPicPr>
        <p:blipFill>
          <a:blip r:embed="rId4"/>
          <a:srcRect/>
          <a:stretch/>
        </p:blipFill>
        <p:spPr>
          <a:xfrm>
            <a:off x="812800" y="3242965"/>
            <a:ext cx="355600" cy="355600"/>
          </a:xfrm>
          <a:prstGeom prst="rect">
            <a:avLst/>
          </a:prstGeom>
        </p:spPr>
      </p:pic>
      <p:pic>
        <p:nvPicPr>
          <p:cNvPr id="6" name="Image 2" descr="Chart"/>
          <p:cNvPicPr>
            <a:picLocks noChangeAspect="1"/>
          </p:cNvPicPr>
          <p:nvPr/>
        </p:nvPicPr>
        <p:blipFill>
          <a:blip r:embed="rId5"/>
          <a:srcRect l="-405" r="-405"/>
          <a:stretch/>
        </p:blipFill>
        <p:spPr>
          <a:xfrm>
            <a:off x="812800" y="3997325"/>
            <a:ext cx="352078" cy="355600"/>
          </a:xfrm>
          <a:prstGeom prst="rect">
            <a:avLst/>
          </a:prstGeom>
        </p:spPr>
      </p:pic>
      <p:sp>
        <p:nvSpPr>
          <p:cNvPr id="7" name="Text 2"/>
          <p:cNvSpPr/>
          <p:nvPr/>
        </p:nvSpPr>
        <p:spPr>
          <a:xfrm>
            <a:off x="1342678" y="3877965"/>
            <a:ext cx="4581978"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Joonistab graafiku ja näitab lahenduskäiku</a:t>
            </a:r>
            <a:endParaRPr lang="en-US" sz="1800" dirty="0"/>
          </a:p>
        </p:txBody>
      </p:sp>
      <p:pic>
        <p:nvPicPr>
          <p:cNvPr id="8" name="Image 3" descr="Code"/>
          <p:cNvPicPr>
            <a:picLocks noChangeAspect="1"/>
          </p:cNvPicPr>
          <p:nvPr/>
        </p:nvPicPr>
        <p:blipFill>
          <a:blip r:embed="rId6"/>
          <a:srcRect/>
          <a:stretch/>
        </p:blipFill>
        <p:spPr>
          <a:xfrm>
            <a:off x="812800" y="4751685"/>
            <a:ext cx="355600" cy="355600"/>
          </a:xfrm>
          <a:prstGeom prst="rect">
            <a:avLst/>
          </a:prstGeom>
        </p:spPr>
      </p:pic>
      <p:sp>
        <p:nvSpPr>
          <p:cNvPr id="9" name="Text 3"/>
          <p:cNvSpPr/>
          <p:nvPr/>
        </p:nvSpPr>
        <p:spPr>
          <a:xfrm>
            <a:off x="1346200" y="4780905"/>
            <a:ext cx="471148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ASP.NET Core MVC · SQLite · Chart.js</a:t>
            </a:r>
            <a:endParaRPr lang="en-US" sz="1800" dirty="0"/>
          </a:p>
        </p:txBody>
      </p:sp>
      <p:sp>
        <p:nvSpPr>
          <p:cNvPr id="10" name="Shape 4"/>
          <p:cNvSpPr/>
          <p:nvPr/>
        </p:nvSpPr>
        <p:spPr>
          <a:xfrm>
            <a:off x="6299200" y="2070100"/>
            <a:ext cx="5080000" cy="3575050"/>
          </a:xfrm>
          <a:prstGeom prst="roundRect">
            <a:avLst>
              <a:gd name="adj" fmla="val 3552"/>
            </a:avLst>
          </a:prstGeom>
          <a:solidFill>
            <a:srgbClr val="FFFFFF"/>
          </a:solidFill>
          <a:ln/>
        </p:spPr>
      </p:sp>
      <p:pic>
        <p:nvPicPr>
          <p:cNvPr id="11" name="Image 4" descr="Detailvaade: funktsiooni x² − 9 graafik nullkohtade ja miinimumiga"/>
          <p:cNvPicPr>
            <a:picLocks noChangeAspect="1"/>
          </p:cNvPicPr>
          <p:nvPr/>
        </p:nvPicPr>
        <p:blipFill>
          <a:blip r:embed="rId7"/>
          <a:srcRect l="-8" r="-8"/>
          <a:stretch/>
        </p:blipFill>
        <p:spPr>
          <a:xfrm>
            <a:off x="6305550" y="2076450"/>
            <a:ext cx="5067300" cy="3562350"/>
          </a:xfrm>
          <a:prstGeom prst="roundRect">
            <a:avLst>
              <a:gd name="adj" fmla="val 3387"/>
            </a:avLst>
          </a:prstGeom>
        </p:spPr>
      </p:pic>
      <p:sp>
        <p:nvSpPr>
          <p:cNvPr id="12" name="Shape 5"/>
          <p:cNvSpPr/>
          <p:nvPr/>
        </p:nvSpPr>
        <p:spPr>
          <a:xfrm>
            <a:off x="6302375" y="2073275"/>
            <a:ext cx="5073650" cy="3568700"/>
          </a:xfrm>
          <a:prstGeom prst="roundRect">
            <a:avLst>
              <a:gd name="adj" fmla="val 3470"/>
            </a:avLst>
          </a:prstGeom>
          <a:noFill/>
          <a:ln w="6350">
            <a:solidFill>
              <a:srgbClr val="DCDAD2"/>
            </a:solidFill>
            <a:prstDash val="solid"/>
          </a:ln>
        </p:spPr>
      </p:sp>
      <p:sp>
        <p:nvSpPr>
          <p:cNvPr id="13" name="Text 6"/>
          <p:cNvSpPr/>
          <p:nvPr/>
        </p:nvSpPr>
        <p:spPr>
          <a:xfrm>
            <a:off x="1313706" y="3171230"/>
            <a:ext cx="4669917"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Leiab </a:t>
            </a:r>
            <a:r>
              <a:rPr lang="en-US" sz="1800" b="1" dirty="0">
                <a:solidFill>
                  <a:srgbClr val="15233F"/>
                </a:solidFill>
                <a:latin typeface="Public Sans" pitchFamily="34" charset="0"/>
                <a:ea typeface="Public Sans" pitchFamily="34" charset="-122"/>
                <a:cs typeface="Public Sans" pitchFamily="34" charset="-120"/>
              </a:rPr>
              <a:t>19 omadust</a:t>
            </a:r>
            <a:r>
              <a:rPr lang="en-US" sz="1800" dirty="0">
                <a:solidFill>
                  <a:srgbClr val="15233F"/>
                </a:solidFill>
                <a:latin typeface="Public Sans" pitchFamily="34" charset="0"/>
                <a:ea typeface="Public Sans" pitchFamily="34" charset="-122"/>
                <a:cs typeface="Public Sans" pitchFamily="34" charset="-120"/>
              </a:rPr>
              <a:t>: nullkohad, tuletised, ekstreemumid jm</a:t>
            </a:r>
            <a:endParaRPr lang="en-US" sz="1800" dirty="0"/>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233F"/>
                </a:solidFill>
                <a:latin typeface="Space Grotesk" pitchFamily="34" charset="0"/>
                <a:ea typeface="Space Grotesk" pitchFamily="34" charset="-122"/>
                <a:cs typeface="Space Grotesk" pitchFamily="34" charset="-120"/>
              </a:rPr>
              <a:t>Kuidas testiti?</a:t>
            </a:r>
            <a:endParaRPr lang="en-US" sz="3600" dirty="0"/>
          </a:p>
        </p:txBody>
      </p:sp>
      <p:sp>
        <p:nvSpPr>
          <p:cNvPr id="3" name="Shape 1"/>
          <p:cNvSpPr/>
          <p:nvPr/>
        </p:nvSpPr>
        <p:spPr>
          <a:xfrm>
            <a:off x="815975" y="1674465"/>
            <a:ext cx="2482850" cy="2144911"/>
          </a:xfrm>
          <a:prstGeom prst="roundRect">
            <a:avLst>
              <a:gd name="adj" fmla="val 5773"/>
            </a:avLst>
          </a:prstGeom>
          <a:solidFill>
            <a:srgbClr val="FFFFFF"/>
          </a:solidFill>
          <a:ln w="6350">
            <a:solidFill>
              <a:srgbClr val="DCDAD2"/>
            </a:solidFill>
            <a:prstDash val="solid"/>
          </a:ln>
        </p:spPr>
      </p:sp>
      <p:pic>
        <p:nvPicPr>
          <p:cNvPr id="4" name="Image 0" descr="Search"/>
          <p:cNvPicPr>
            <a:picLocks noChangeAspect="1"/>
          </p:cNvPicPr>
          <p:nvPr/>
        </p:nvPicPr>
        <p:blipFill>
          <a:blip r:embed="rId3"/>
          <a:srcRect/>
          <a:stretch/>
        </p:blipFill>
        <p:spPr>
          <a:xfrm>
            <a:off x="1073150" y="1931640"/>
            <a:ext cx="355600" cy="355600"/>
          </a:xfrm>
          <a:prstGeom prst="rect">
            <a:avLst/>
          </a:prstGeom>
        </p:spPr>
      </p:pic>
      <p:sp>
        <p:nvSpPr>
          <p:cNvPr id="5" name="Text 2"/>
          <p:cNvSpPr/>
          <p:nvPr/>
        </p:nvSpPr>
        <p:spPr>
          <a:xfrm>
            <a:off x="1073150" y="2414240"/>
            <a:ext cx="20275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33F"/>
                </a:solidFill>
                <a:latin typeface="Space Grotesk" pitchFamily="34" charset="0"/>
                <a:ea typeface="Space Grotesk" pitchFamily="34" charset="-122"/>
                <a:cs typeface="Space Grotesk" pitchFamily="34" charset="-120"/>
              </a:rPr>
              <a:t>Must kast</a:t>
            </a:r>
            <a:endParaRPr lang="en-US" sz="1800" dirty="0"/>
          </a:p>
        </p:txBody>
      </p:sp>
      <p:sp>
        <p:nvSpPr>
          <p:cNvPr id="6" name="Text 3"/>
          <p:cNvSpPr/>
          <p:nvPr/>
        </p:nvSpPr>
        <p:spPr>
          <a:xfrm>
            <a:off x="1073150" y="2815530"/>
            <a:ext cx="202755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Võrdlesin tegelikku tulemust oodatuga.</a:t>
            </a:r>
            <a:endParaRPr lang="en-US" sz="1400" dirty="0"/>
          </a:p>
        </p:txBody>
      </p:sp>
      <p:sp>
        <p:nvSpPr>
          <p:cNvPr id="7" name="Shape 4"/>
          <p:cNvSpPr/>
          <p:nvPr/>
        </p:nvSpPr>
        <p:spPr>
          <a:xfrm>
            <a:off x="3508375" y="1674465"/>
            <a:ext cx="2482850" cy="2144911"/>
          </a:xfrm>
          <a:prstGeom prst="roundRect">
            <a:avLst>
              <a:gd name="adj" fmla="val 5773"/>
            </a:avLst>
          </a:prstGeom>
          <a:solidFill>
            <a:srgbClr val="FFFFFF"/>
          </a:solidFill>
          <a:ln w="6350">
            <a:solidFill>
              <a:srgbClr val="DCDAD2"/>
            </a:solidFill>
            <a:prstDash val="solid"/>
          </a:ln>
        </p:spPr>
      </p:sp>
      <p:pic>
        <p:nvPicPr>
          <p:cNvPr id="8" name="Image 1" descr="Warning"/>
          <p:cNvPicPr>
            <a:picLocks noChangeAspect="1"/>
          </p:cNvPicPr>
          <p:nvPr/>
        </p:nvPicPr>
        <p:blipFill>
          <a:blip r:embed="rId4"/>
          <a:srcRect/>
          <a:stretch/>
        </p:blipFill>
        <p:spPr>
          <a:xfrm>
            <a:off x="3765550" y="1931640"/>
            <a:ext cx="355600" cy="355600"/>
          </a:xfrm>
          <a:prstGeom prst="rect">
            <a:avLst/>
          </a:prstGeom>
        </p:spPr>
      </p:pic>
      <p:sp>
        <p:nvSpPr>
          <p:cNvPr id="9" name="Text 5"/>
          <p:cNvSpPr/>
          <p:nvPr/>
        </p:nvSpPr>
        <p:spPr>
          <a:xfrm>
            <a:off x="3765550" y="2414240"/>
            <a:ext cx="20275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33F"/>
                </a:solidFill>
                <a:latin typeface="Space Grotesk" pitchFamily="34" charset="0"/>
                <a:ea typeface="Space Grotesk" pitchFamily="34" charset="-122"/>
                <a:cs typeface="Space Grotesk" pitchFamily="34" charset="-120"/>
              </a:rPr>
              <a:t>Piirväärtused</a:t>
            </a:r>
            <a:endParaRPr lang="en-US" sz="1800" dirty="0"/>
          </a:p>
        </p:txBody>
      </p:sp>
      <p:sp>
        <p:nvSpPr>
          <p:cNvPr id="10" name="Text 6"/>
          <p:cNvSpPr/>
          <p:nvPr/>
        </p:nvSpPr>
        <p:spPr>
          <a:xfrm>
            <a:off x="3765550" y="2815530"/>
            <a:ext cx="202755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Tühi valem, 200 ja 201 märki, valed märgid.</a:t>
            </a:r>
            <a:endParaRPr lang="en-US" sz="1400" dirty="0"/>
          </a:p>
        </p:txBody>
      </p:sp>
      <p:sp>
        <p:nvSpPr>
          <p:cNvPr id="11" name="Shape 7"/>
          <p:cNvSpPr/>
          <p:nvPr/>
        </p:nvSpPr>
        <p:spPr>
          <a:xfrm>
            <a:off x="6200775" y="1674465"/>
            <a:ext cx="2482850" cy="2144911"/>
          </a:xfrm>
          <a:prstGeom prst="roundRect">
            <a:avLst>
              <a:gd name="adj" fmla="val 5773"/>
            </a:avLst>
          </a:prstGeom>
          <a:solidFill>
            <a:srgbClr val="FFFFFF"/>
          </a:solidFill>
          <a:ln w="6350">
            <a:solidFill>
              <a:srgbClr val="DCDAD2"/>
            </a:solidFill>
            <a:prstDash val="solid"/>
          </a:ln>
        </p:spPr>
      </p:sp>
      <p:pic>
        <p:nvPicPr>
          <p:cNvPr id="12" name="Image 2" descr="Book"/>
          <p:cNvPicPr>
            <a:picLocks noChangeAspect="1"/>
          </p:cNvPicPr>
          <p:nvPr/>
        </p:nvPicPr>
        <p:blipFill>
          <a:blip r:embed="rId5"/>
          <a:srcRect/>
          <a:stretch/>
        </p:blipFill>
        <p:spPr>
          <a:xfrm>
            <a:off x="6457950" y="1931640"/>
            <a:ext cx="355600" cy="355600"/>
          </a:xfrm>
          <a:prstGeom prst="rect">
            <a:avLst/>
          </a:prstGeom>
        </p:spPr>
      </p:pic>
      <p:sp>
        <p:nvSpPr>
          <p:cNvPr id="13" name="Text 8"/>
          <p:cNvSpPr/>
          <p:nvPr/>
        </p:nvSpPr>
        <p:spPr>
          <a:xfrm>
            <a:off x="6457950" y="2414240"/>
            <a:ext cx="20275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33F"/>
                </a:solidFill>
                <a:latin typeface="Space Grotesk" pitchFamily="34" charset="0"/>
                <a:ea typeface="Space Grotesk" pitchFamily="34" charset="-122"/>
                <a:cs typeface="Space Grotesk" pitchFamily="34" charset="-120"/>
              </a:rPr>
              <a:t>Koodiülevaatus</a:t>
            </a:r>
            <a:endParaRPr lang="en-US" sz="1800" dirty="0"/>
          </a:p>
        </p:txBody>
      </p:sp>
      <p:sp>
        <p:nvSpPr>
          <p:cNvPr id="14" name="Text 9"/>
          <p:cNvSpPr/>
          <p:nvPr/>
        </p:nvSpPr>
        <p:spPr>
          <a:xfrm>
            <a:off x="6457950" y="2815530"/>
            <a:ext cx="202755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Lugesin läbi kontrollerid, mudelid ja teenused.</a:t>
            </a:r>
            <a:endParaRPr lang="en-US" sz="1400" dirty="0"/>
          </a:p>
        </p:txBody>
      </p:sp>
      <p:sp>
        <p:nvSpPr>
          <p:cNvPr id="15" name="Shape 10"/>
          <p:cNvSpPr/>
          <p:nvPr/>
        </p:nvSpPr>
        <p:spPr>
          <a:xfrm>
            <a:off x="8893175" y="1674465"/>
            <a:ext cx="2482850" cy="2144911"/>
          </a:xfrm>
          <a:prstGeom prst="roundRect">
            <a:avLst>
              <a:gd name="adj" fmla="val 5773"/>
            </a:avLst>
          </a:prstGeom>
          <a:solidFill>
            <a:srgbClr val="FFFFFF"/>
          </a:solidFill>
          <a:ln w="6350">
            <a:solidFill>
              <a:srgbClr val="DCDAD2"/>
            </a:solidFill>
            <a:prstDash val="solid"/>
          </a:ln>
        </p:spPr>
      </p:sp>
      <p:pic>
        <p:nvPicPr>
          <p:cNvPr id="16" name="Image 3" descr="CheckCircle"/>
          <p:cNvPicPr>
            <a:picLocks noChangeAspect="1"/>
          </p:cNvPicPr>
          <p:nvPr/>
        </p:nvPicPr>
        <p:blipFill>
          <a:blip r:embed="rId6"/>
          <a:srcRect/>
          <a:stretch/>
        </p:blipFill>
        <p:spPr>
          <a:xfrm>
            <a:off x="9150350" y="1931640"/>
            <a:ext cx="355600" cy="355600"/>
          </a:xfrm>
          <a:prstGeom prst="rect">
            <a:avLst/>
          </a:prstGeom>
        </p:spPr>
      </p:pic>
      <p:sp>
        <p:nvSpPr>
          <p:cNvPr id="17" name="Text 11"/>
          <p:cNvSpPr/>
          <p:nvPr/>
        </p:nvSpPr>
        <p:spPr>
          <a:xfrm>
            <a:off x="9150350" y="2414240"/>
            <a:ext cx="202755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5233F"/>
                </a:solidFill>
                <a:latin typeface="Space Grotesk" pitchFamily="34" charset="0"/>
                <a:ea typeface="Space Grotesk" pitchFamily="34" charset="-122"/>
                <a:cs typeface="Space Grotesk" pitchFamily="34" charset="-120"/>
              </a:rPr>
              <a:t>Ühiktestid</a:t>
            </a:r>
            <a:endParaRPr lang="en-US" sz="1800" dirty="0"/>
          </a:p>
        </p:txBody>
      </p:sp>
      <p:sp>
        <p:nvSpPr>
          <p:cNvPr id="18" name="Text 12"/>
          <p:cNvSpPr/>
          <p:nvPr/>
        </p:nvSpPr>
        <p:spPr>
          <a:xfrm>
            <a:off x="9150350" y="2815530"/>
            <a:ext cx="202755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Public Sans" pitchFamily="34" charset="0"/>
                <a:ea typeface="Public Sans" pitchFamily="34" charset="-122"/>
                <a:cs typeface="Public Sans" pitchFamily="34" charset="-120"/>
              </a:rPr>
              <a:t>Kirjutasin 9 xUnit-testi matemaatikale.</a:t>
            </a:r>
            <a:endParaRPr lang="en-US" sz="1400" dirty="0"/>
          </a:p>
        </p:txBody>
      </p:sp>
      <p:sp>
        <p:nvSpPr>
          <p:cNvPr id="19" name="Text 13"/>
          <p:cNvSpPr/>
          <p:nvPr/>
        </p:nvSpPr>
        <p:spPr>
          <a:xfrm>
            <a:off x="812800" y="57963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Public Sans" pitchFamily="34" charset="0"/>
                <a:ea typeface="Public Sans" pitchFamily="34" charset="-122"/>
                <a:cs typeface="Public Sans" pitchFamily="34" charset="-120"/>
              </a:rPr>
              <a:t>Tööriistad:</a:t>
            </a:r>
            <a:r>
              <a:rPr lang="en-US" sz="1400" dirty="0">
                <a:solidFill>
                  <a:srgbClr val="4A5568"/>
                </a:solidFill>
                <a:latin typeface="Public Sans" pitchFamily="34" charset="0"/>
                <a:ea typeface="Public Sans" pitchFamily="34" charset="-122"/>
                <a:cs typeface="Public Sans" pitchFamily="34" charset="-120"/>
              </a:rPr>
              <a:t> xUnit, Playwright, curl · Chrome ja Firefox · macOS</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55 testjuhtumit</a:t>
            </a:r>
            <a:endParaRPr lang="en-US" sz="3600" dirty="0"/>
          </a:p>
        </p:txBody>
      </p:sp>
      <p:sp>
        <p:nvSpPr>
          <p:cNvPr id="3" name="Shape 1"/>
          <p:cNvSpPr/>
          <p:nvPr/>
        </p:nvSpPr>
        <p:spPr>
          <a:xfrm>
            <a:off x="812800" y="1671290"/>
            <a:ext cx="4876800" cy="1874490"/>
          </a:xfrm>
          <a:prstGeom prst="roundRect">
            <a:avLst>
              <a:gd name="adj" fmla="val 5420"/>
            </a:avLst>
          </a:prstGeom>
          <a:solidFill>
            <a:srgbClr val="1F3358"/>
          </a:solidFill>
          <a:ln/>
        </p:spPr>
      </p:sp>
      <p:sp>
        <p:nvSpPr>
          <p:cNvPr id="4" name="Shape 2"/>
          <p:cNvSpPr/>
          <p:nvPr/>
        </p:nvSpPr>
        <p:spPr>
          <a:xfrm>
            <a:off x="812800" y="1671290"/>
            <a:ext cx="4876800" cy="1874490"/>
          </a:xfrm>
          <a:custGeom>
            <a:avLst/>
            <a:gdLst/>
            <a:ahLst/>
            <a:cxnLst/>
            <a:rect l="l" t="t" r="r" b="b"/>
            <a:pathLst>
              <a:path w="4876800" h="1874490">
                <a:moveTo>
                  <a:pt x="0" y="101600"/>
                </a:moveTo>
                <a:lnTo>
                  <a:pt x="0" y="101600"/>
                </a:lnTo>
                <a:arcTo wR="101600" hR="101600" stAng="10800000" swAng="5400000"/>
                <a:lnTo>
                  <a:pt x="4775200" y="0"/>
                </a:lnTo>
                <a:arcTo wR="101600" hR="101600" stAng="16200000" swAng="5400000"/>
                <a:lnTo>
                  <a:pt x="4876800" y="101600"/>
                </a:lnTo>
                <a:arcTo wR="101600" hR="50800" stAng="0" swAng="-5400000"/>
                <a:lnTo>
                  <a:pt x="101600" y="50800"/>
                </a:lnTo>
                <a:arcTo wR="101600" hR="50800" stAng="16200000" swAng="-5400000"/>
                <a:close/>
              </a:path>
            </a:pathLst>
          </a:custGeom>
          <a:solidFill>
            <a:srgbClr val="6FCF97"/>
          </a:solidFill>
          <a:ln/>
        </p:spPr>
      </p:sp>
      <p:sp>
        <p:nvSpPr>
          <p:cNvPr id="5" name="Text 3"/>
          <p:cNvSpPr/>
          <p:nvPr/>
        </p:nvSpPr>
        <p:spPr>
          <a:xfrm>
            <a:off x="1066800" y="1976090"/>
            <a:ext cx="449986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6FCF97"/>
                </a:solidFill>
                <a:latin typeface="Space Grotesk" pitchFamily="34" charset="0"/>
                <a:ea typeface="Space Grotesk" pitchFamily="34" charset="-122"/>
                <a:cs typeface="Space Grotesk" pitchFamily="34" charset="-120"/>
              </a:rPr>
              <a:t>43</a:t>
            </a:r>
            <a:endParaRPr lang="en-US" sz="6000" dirty="0"/>
          </a:p>
        </p:txBody>
      </p:sp>
      <p:sp>
        <p:nvSpPr>
          <p:cNvPr id="6" name="Text 4"/>
          <p:cNvSpPr/>
          <p:nvPr/>
        </p:nvSpPr>
        <p:spPr>
          <a:xfrm>
            <a:off x="1066800" y="2788890"/>
            <a:ext cx="4499864"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OK</a:t>
            </a:r>
            <a:endParaRPr lang="en-US" sz="3600" dirty="0"/>
          </a:p>
        </p:txBody>
      </p:sp>
      <p:sp>
        <p:nvSpPr>
          <p:cNvPr id="7" name="Shape 5"/>
          <p:cNvSpPr/>
          <p:nvPr/>
        </p:nvSpPr>
        <p:spPr>
          <a:xfrm>
            <a:off x="5892800" y="1671290"/>
            <a:ext cx="2641600" cy="1874490"/>
          </a:xfrm>
          <a:prstGeom prst="roundRect">
            <a:avLst>
              <a:gd name="adj" fmla="val 5420"/>
            </a:avLst>
          </a:prstGeom>
          <a:solidFill>
            <a:srgbClr val="1F3358"/>
          </a:solidFill>
          <a:ln/>
        </p:spPr>
      </p:sp>
      <p:sp>
        <p:nvSpPr>
          <p:cNvPr id="8" name="Shape 6"/>
          <p:cNvSpPr/>
          <p:nvPr/>
        </p:nvSpPr>
        <p:spPr>
          <a:xfrm>
            <a:off x="5892800" y="1671290"/>
            <a:ext cx="2641600" cy="1874490"/>
          </a:xfrm>
          <a:custGeom>
            <a:avLst/>
            <a:gdLst/>
            <a:ahLst/>
            <a:cxnLst/>
            <a:rect l="l" t="t" r="r" b="b"/>
            <a:pathLst>
              <a:path w="2641600" h="1874490">
                <a:moveTo>
                  <a:pt x="0" y="101600"/>
                </a:moveTo>
                <a:lnTo>
                  <a:pt x="0" y="101600"/>
                </a:lnTo>
                <a:arcTo wR="101600" hR="101600" stAng="10800000" swAng="5400000"/>
                <a:lnTo>
                  <a:pt x="2540000" y="0"/>
                </a:lnTo>
                <a:arcTo wR="101600" hR="101600" stAng="16200000" swAng="5400000"/>
                <a:lnTo>
                  <a:pt x="2641600" y="101600"/>
                </a:lnTo>
                <a:arcTo wR="101600" hR="50800" stAng="0" swAng="-5400000"/>
                <a:lnTo>
                  <a:pt x="101600" y="50800"/>
                </a:lnTo>
                <a:arcTo wR="101600" hR="50800" stAng="16200000" swAng="-5400000"/>
                <a:close/>
              </a:path>
            </a:pathLst>
          </a:custGeom>
          <a:solidFill>
            <a:srgbClr val="FF8A5B"/>
          </a:solidFill>
          <a:ln/>
        </p:spPr>
      </p:sp>
      <p:sp>
        <p:nvSpPr>
          <p:cNvPr id="9" name="Text 7"/>
          <p:cNvSpPr/>
          <p:nvPr/>
        </p:nvSpPr>
        <p:spPr>
          <a:xfrm>
            <a:off x="6146800" y="1976090"/>
            <a:ext cx="2197608"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8A5B"/>
                </a:solidFill>
                <a:latin typeface="Space Grotesk" pitchFamily="34" charset="0"/>
                <a:ea typeface="Space Grotesk" pitchFamily="34" charset="-122"/>
                <a:cs typeface="Space Grotesk" pitchFamily="34" charset="-120"/>
              </a:rPr>
              <a:t>6</a:t>
            </a:r>
            <a:endParaRPr lang="en-US" sz="6000" dirty="0"/>
          </a:p>
        </p:txBody>
      </p:sp>
      <p:sp>
        <p:nvSpPr>
          <p:cNvPr id="10" name="Text 8"/>
          <p:cNvSpPr/>
          <p:nvPr/>
        </p:nvSpPr>
        <p:spPr>
          <a:xfrm>
            <a:off x="6146800" y="2788890"/>
            <a:ext cx="2197608"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VIGA</a:t>
            </a:r>
            <a:endParaRPr lang="en-US" sz="3600" dirty="0"/>
          </a:p>
        </p:txBody>
      </p:sp>
      <p:sp>
        <p:nvSpPr>
          <p:cNvPr id="11" name="Shape 9"/>
          <p:cNvSpPr/>
          <p:nvPr/>
        </p:nvSpPr>
        <p:spPr>
          <a:xfrm>
            <a:off x="8737600" y="1671290"/>
            <a:ext cx="2641600" cy="1874490"/>
          </a:xfrm>
          <a:prstGeom prst="roundRect">
            <a:avLst>
              <a:gd name="adj" fmla="val 5420"/>
            </a:avLst>
          </a:prstGeom>
          <a:solidFill>
            <a:srgbClr val="1F3358"/>
          </a:solidFill>
          <a:ln/>
        </p:spPr>
      </p:sp>
      <p:sp>
        <p:nvSpPr>
          <p:cNvPr id="12" name="Shape 10"/>
          <p:cNvSpPr/>
          <p:nvPr/>
        </p:nvSpPr>
        <p:spPr>
          <a:xfrm>
            <a:off x="8737600" y="1671290"/>
            <a:ext cx="2641600" cy="1874490"/>
          </a:xfrm>
          <a:custGeom>
            <a:avLst/>
            <a:gdLst/>
            <a:ahLst/>
            <a:cxnLst/>
            <a:rect l="l" t="t" r="r" b="b"/>
            <a:pathLst>
              <a:path w="2641600" h="1874490">
                <a:moveTo>
                  <a:pt x="0" y="101600"/>
                </a:moveTo>
                <a:lnTo>
                  <a:pt x="0" y="101600"/>
                </a:lnTo>
                <a:arcTo wR="101600" hR="101600" stAng="10800000" swAng="5400000"/>
                <a:lnTo>
                  <a:pt x="2540000" y="0"/>
                </a:lnTo>
                <a:arcTo wR="101600" hR="101600" stAng="16200000" swAng="5400000"/>
                <a:lnTo>
                  <a:pt x="2641600" y="101600"/>
                </a:lnTo>
                <a:arcTo wR="101600" hR="50800" stAng="0" swAng="-5400000"/>
                <a:lnTo>
                  <a:pt x="101600" y="50800"/>
                </a:lnTo>
                <a:arcTo wR="101600" hR="50800" stAng="16200000" swAng="-5400000"/>
                <a:close/>
              </a:path>
            </a:pathLst>
          </a:custGeom>
          <a:solidFill>
            <a:srgbClr val="F2C94C"/>
          </a:solidFill>
          <a:ln/>
        </p:spPr>
      </p:sp>
      <p:sp>
        <p:nvSpPr>
          <p:cNvPr id="13" name="Text 11"/>
          <p:cNvSpPr/>
          <p:nvPr/>
        </p:nvSpPr>
        <p:spPr>
          <a:xfrm>
            <a:off x="8991600" y="1976090"/>
            <a:ext cx="2197608"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2C94C"/>
                </a:solidFill>
                <a:latin typeface="Space Grotesk" pitchFamily="34" charset="0"/>
                <a:ea typeface="Space Grotesk" pitchFamily="34" charset="-122"/>
                <a:cs typeface="Space Grotesk" pitchFamily="34" charset="-120"/>
              </a:rPr>
              <a:t>6</a:t>
            </a:r>
            <a:endParaRPr lang="en-US" sz="6000" dirty="0"/>
          </a:p>
        </p:txBody>
      </p:sp>
      <p:sp>
        <p:nvSpPr>
          <p:cNvPr id="14" name="Text 12"/>
          <p:cNvSpPr/>
          <p:nvPr/>
        </p:nvSpPr>
        <p:spPr>
          <a:xfrm>
            <a:off x="8991600" y="2788890"/>
            <a:ext cx="2197608"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OSALINE</a:t>
            </a:r>
            <a:endParaRPr lang="en-US" sz="3600" dirty="0"/>
          </a:p>
        </p:txBody>
      </p:sp>
      <p:sp>
        <p:nvSpPr>
          <p:cNvPr id="15" name="Shape 13"/>
          <p:cNvSpPr/>
          <p:nvPr/>
        </p:nvSpPr>
        <p:spPr>
          <a:xfrm>
            <a:off x="812800" y="3901380"/>
            <a:ext cx="8261003" cy="254000"/>
          </a:xfrm>
          <a:custGeom>
            <a:avLst/>
            <a:gdLst/>
            <a:ahLst/>
            <a:cxnLst/>
            <a:rect l="l" t="t" r="r" b="b"/>
            <a:pathLst>
              <a:path w="8261003" h="254000">
                <a:moveTo>
                  <a:pt x="0" y="127000"/>
                </a:moveTo>
                <a:arcTo wR="127000" hR="127000" stAng="10800000" swAng="5400000"/>
                <a:lnTo>
                  <a:pt x="8261003" y="0"/>
                </a:lnTo>
                <a:lnTo>
                  <a:pt x="8261003" y="254000"/>
                </a:lnTo>
                <a:lnTo>
                  <a:pt x="127000" y="254000"/>
                </a:lnTo>
                <a:arcTo wR="127000" hR="127000" stAng="5400000" swAng="5400000"/>
                <a:close/>
              </a:path>
            </a:pathLst>
          </a:custGeom>
          <a:solidFill>
            <a:srgbClr val="6FCF97"/>
          </a:solidFill>
          <a:ln/>
        </p:spPr>
      </p:sp>
      <p:sp>
        <p:nvSpPr>
          <p:cNvPr id="16" name="Shape 14"/>
          <p:cNvSpPr/>
          <p:nvPr/>
        </p:nvSpPr>
        <p:spPr>
          <a:xfrm>
            <a:off x="9073803" y="3901380"/>
            <a:ext cx="1152723" cy="254000"/>
          </a:xfrm>
          <a:prstGeom prst="rect">
            <a:avLst/>
          </a:prstGeom>
          <a:solidFill>
            <a:srgbClr val="FF8A5B"/>
          </a:solidFill>
          <a:ln/>
        </p:spPr>
      </p:sp>
      <p:sp>
        <p:nvSpPr>
          <p:cNvPr id="17" name="Shape 15"/>
          <p:cNvSpPr/>
          <p:nvPr/>
        </p:nvSpPr>
        <p:spPr>
          <a:xfrm>
            <a:off x="10226526" y="3901380"/>
            <a:ext cx="1152674" cy="254000"/>
          </a:xfrm>
          <a:custGeom>
            <a:avLst/>
            <a:gdLst/>
            <a:ahLst/>
            <a:cxnLst/>
            <a:rect l="l" t="t" r="r" b="b"/>
            <a:pathLst>
              <a:path w="1152674" h="254000">
                <a:moveTo>
                  <a:pt x="1025674" y="0"/>
                </a:moveTo>
                <a:arcTo wR="127000" hR="127000" stAng="16200000" swAng="5400000"/>
                <a:lnTo>
                  <a:pt x="1152674" y="127000"/>
                </a:lnTo>
                <a:arcTo wR="127000" hR="127000" stAng="0" swAng="5400000"/>
                <a:lnTo>
                  <a:pt x="0" y="254000"/>
                </a:lnTo>
                <a:lnTo>
                  <a:pt x="0" y="0"/>
                </a:lnTo>
                <a:close/>
              </a:path>
            </a:pathLst>
          </a:custGeom>
          <a:solidFill>
            <a:srgbClr val="F2C94C"/>
          </a:solidFill>
          <a:ln/>
        </p:spPr>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233F"/>
                </a:solidFill>
                <a:latin typeface="Space Grotesk" pitchFamily="34" charset="0"/>
                <a:ea typeface="Space Grotesk" pitchFamily="34" charset="-122"/>
                <a:cs typeface="Space Grotesk" pitchFamily="34" charset="-120"/>
              </a:rPr>
              <a:t>Mis töötab hästi?</a:t>
            </a:r>
            <a:endParaRPr lang="en-US" sz="3600" dirty="0"/>
          </a:p>
        </p:txBody>
      </p:sp>
      <p:pic>
        <p:nvPicPr>
          <p:cNvPr id="3" name="Image 0" descr="CheckCircle"/>
          <p:cNvPicPr>
            <a:picLocks noChangeAspect="1"/>
          </p:cNvPicPr>
          <p:nvPr/>
        </p:nvPicPr>
        <p:blipFill>
          <a:blip r:embed="rId3"/>
          <a:srcRect/>
          <a:stretch/>
        </p:blipFill>
        <p:spPr>
          <a:xfrm>
            <a:off x="812800" y="2639020"/>
            <a:ext cx="304800" cy="304800"/>
          </a:xfrm>
          <a:prstGeom prst="rect">
            <a:avLst/>
          </a:prstGeom>
        </p:spPr>
      </p:pic>
      <p:sp>
        <p:nvSpPr>
          <p:cNvPr id="4" name="Text 1"/>
          <p:cNvSpPr/>
          <p:nvPr/>
        </p:nvSpPr>
        <p:spPr>
          <a:xfrm>
            <a:off x="1270000" y="2651075"/>
            <a:ext cx="4194750"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5233F"/>
                </a:solidFill>
                <a:latin typeface="Public Sans" pitchFamily="34" charset="0"/>
                <a:ea typeface="Public Sans" pitchFamily="34" charset="-122"/>
                <a:cs typeface="Public Sans" pitchFamily="34" charset="-120"/>
              </a:rPr>
              <a:t>Loomine, muutmine ja kustutamine</a:t>
            </a:r>
            <a:endParaRPr lang="en-US" sz="1700" dirty="0"/>
          </a:p>
        </p:txBody>
      </p:sp>
      <p:pic>
        <p:nvPicPr>
          <p:cNvPr id="5" name="Image 1" descr="CheckCircle"/>
          <p:cNvPicPr>
            <a:picLocks noChangeAspect="1"/>
          </p:cNvPicPr>
          <p:nvPr/>
        </p:nvPicPr>
        <p:blipFill>
          <a:blip r:embed="rId3"/>
          <a:srcRect/>
          <a:stretch/>
        </p:blipFill>
        <p:spPr>
          <a:xfrm>
            <a:off x="812800" y="3172420"/>
            <a:ext cx="304800" cy="304800"/>
          </a:xfrm>
          <a:prstGeom prst="rect">
            <a:avLst/>
          </a:prstGeom>
        </p:spPr>
      </p:pic>
      <p:sp>
        <p:nvSpPr>
          <p:cNvPr id="6" name="Text 2"/>
          <p:cNvSpPr/>
          <p:nvPr/>
        </p:nvSpPr>
        <p:spPr>
          <a:xfrm>
            <a:off x="1270000" y="3184475"/>
            <a:ext cx="3698200"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5233F"/>
                </a:solidFill>
                <a:latin typeface="Public Sans" pitchFamily="34" charset="0"/>
                <a:ea typeface="Public Sans" pitchFamily="34" charset="-122"/>
                <a:cs typeface="Public Sans" pitchFamily="34" charset="-120"/>
              </a:rPr>
              <a:t>Selged eestikeelsed veateated</a:t>
            </a:r>
            <a:endParaRPr lang="en-US" sz="1700" dirty="0"/>
          </a:p>
        </p:txBody>
      </p:sp>
      <p:pic>
        <p:nvPicPr>
          <p:cNvPr id="7" name="Image 2" descr="CheckCircle"/>
          <p:cNvPicPr>
            <a:picLocks noChangeAspect="1"/>
          </p:cNvPicPr>
          <p:nvPr/>
        </p:nvPicPr>
        <p:blipFill>
          <a:blip r:embed="rId3"/>
          <a:srcRect/>
          <a:stretch/>
        </p:blipFill>
        <p:spPr>
          <a:xfrm>
            <a:off x="812800" y="3705820"/>
            <a:ext cx="304800" cy="304800"/>
          </a:xfrm>
          <a:prstGeom prst="rect">
            <a:avLst/>
          </a:prstGeom>
        </p:spPr>
      </p:pic>
      <p:sp>
        <p:nvSpPr>
          <p:cNvPr id="8" name="Text 3"/>
          <p:cNvSpPr/>
          <p:nvPr/>
        </p:nvSpPr>
        <p:spPr>
          <a:xfrm>
            <a:off x="1270000" y="3717875"/>
            <a:ext cx="4418290"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5233F"/>
                </a:solidFill>
                <a:latin typeface="Public Sans" pitchFamily="34" charset="0"/>
                <a:ea typeface="Public Sans" pitchFamily="34" charset="-122"/>
                <a:cs typeface="Public Sans" pitchFamily="34" charset="-120"/>
              </a:rPr>
              <a:t>Graafik katkeb õigesti asümptootidel</a:t>
            </a:r>
            <a:endParaRPr lang="en-US" sz="1700" dirty="0"/>
          </a:p>
        </p:txBody>
      </p:sp>
      <p:pic>
        <p:nvPicPr>
          <p:cNvPr id="9" name="Image 3" descr="CheckCircle"/>
          <p:cNvPicPr>
            <a:picLocks noChangeAspect="1"/>
          </p:cNvPicPr>
          <p:nvPr/>
        </p:nvPicPr>
        <p:blipFill>
          <a:blip r:embed="rId3"/>
          <a:srcRect/>
          <a:stretch/>
        </p:blipFill>
        <p:spPr>
          <a:xfrm>
            <a:off x="812800" y="4239220"/>
            <a:ext cx="304800" cy="304800"/>
          </a:xfrm>
          <a:prstGeom prst="rect">
            <a:avLst/>
          </a:prstGeom>
        </p:spPr>
      </p:pic>
      <p:sp>
        <p:nvSpPr>
          <p:cNvPr id="10" name="Text 4"/>
          <p:cNvSpPr/>
          <p:nvPr/>
        </p:nvSpPr>
        <p:spPr>
          <a:xfrm>
            <a:off x="1270000" y="4251275"/>
            <a:ext cx="4825663"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5233F"/>
                </a:solidFill>
                <a:latin typeface="Public Sans" pitchFamily="34" charset="0"/>
                <a:ea typeface="Public Sans" pitchFamily="34" charset="-122"/>
                <a:cs typeface="Public Sans" pitchFamily="34" charset="-120"/>
              </a:rPr>
              <a:t>Kontrollfunktsioonide vastused on õiged</a:t>
            </a:r>
            <a:endParaRPr lang="en-US" sz="1700" dirty="0"/>
          </a:p>
        </p:txBody>
      </p:sp>
      <p:pic>
        <p:nvPicPr>
          <p:cNvPr id="11" name="Image 4" descr="CheckCircle"/>
          <p:cNvPicPr>
            <a:picLocks noChangeAspect="1"/>
          </p:cNvPicPr>
          <p:nvPr/>
        </p:nvPicPr>
        <p:blipFill>
          <a:blip r:embed="rId3"/>
          <a:srcRect/>
          <a:stretch/>
        </p:blipFill>
        <p:spPr>
          <a:xfrm>
            <a:off x="812800" y="4772620"/>
            <a:ext cx="304800" cy="304800"/>
          </a:xfrm>
          <a:prstGeom prst="rect">
            <a:avLst/>
          </a:prstGeom>
        </p:spPr>
      </p:pic>
      <p:sp>
        <p:nvSpPr>
          <p:cNvPr id="12" name="Text 5"/>
          <p:cNvSpPr/>
          <p:nvPr/>
        </p:nvSpPr>
        <p:spPr>
          <a:xfrm>
            <a:off x="1270000" y="4784675"/>
            <a:ext cx="3910667"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5233F"/>
                </a:solidFill>
                <a:latin typeface="Public Sans" pitchFamily="34" charset="0"/>
                <a:ea typeface="Public Sans" pitchFamily="34" charset="-122"/>
                <a:cs typeface="Public Sans" pitchFamily="34" charset="-120"/>
              </a:rPr>
              <a:t>Boonus on tehtud: puutuja ja lõik</a:t>
            </a:r>
            <a:endParaRPr lang="en-US" sz="1700" dirty="0"/>
          </a:p>
        </p:txBody>
      </p:sp>
      <p:sp>
        <p:nvSpPr>
          <p:cNvPr id="13" name="Shape 6"/>
          <p:cNvSpPr/>
          <p:nvPr/>
        </p:nvSpPr>
        <p:spPr>
          <a:xfrm>
            <a:off x="6553200" y="2270720"/>
            <a:ext cx="4826000" cy="3175000"/>
          </a:xfrm>
          <a:prstGeom prst="roundRect">
            <a:avLst>
              <a:gd name="adj" fmla="val 4000"/>
            </a:avLst>
          </a:prstGeom>
          <a:solidFill>
            <a:srgbClr val="FFFFFF"/>
          </a:solidFill>
          <a:ln/>
        </p:spPr>
      </p:sp>
      <p:pic>
        <p:nvPicPr>
          <p:cNvPr id="14" name="Image 5" descr="Funktsiooni 1/x graafik, joon katkeb asümptoodil x = 0"/>
          <p:cNvPicPr>
            <a:picLocks noChangeAspect="1"/>
          </p:cNvPicPr>
          <p:nvPr/>
        </p:nvPicPr>
        <p:blipFill>
          <a:blip r:embed="rId4"/>
          <a:srcRect l="-78" r="-78"/>
          <a:stretch/>
        </p:blipFill>
        <p:spPr>
          <a:xfrm>
            <a:off x="6559550" y="2277070"/>
            <a:ext cx="4813300" cy="3162300"/>
          </a:xfrm>
          <a:prstGeom prst="roundRect">
            <a:avLst>
              <a:gd name="adj" fmla="val 3815"/>
            </a:avLst>
          </a:prstGeom>
        </p:spPr>
      </p:pic>
      <p:sp>
        <p:nvSpPr>
          <p:cNvPr id="15" name="Shape 7"/>
          <p:cNvSpPr/>
          <p:nvPr/>
        </p:nvSpPr>
        <p:spPr>
          <a:xfrm>
            <a:off x="6556375" y="2273895"/>
            <a:ext cx="4819650" cy="3168650"/>
          </a:xfrm>
          <a:prstGeom prst="roundRect">
            <a:avLst>
              <a:gd name="adj" fmla="val 3908"/>
            </a:avLst>
          </a:prstGeom>
          <a:noFill/>
          <a:ln w="6350">
            <a:solidFill>
              <a:srgbClr val="DCDAD2"/>
            </a:solidFill>
            <a:prstDash val="solid"/>
          </a:ln>
        </p:spPr>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23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Leitud vead: 11</a:t>
            </a:r>
            <a:endParaRPr lang="en-US" sz="3600" dirty="0"/>
          </a:p>
        </p:txBody>
      </p:sp>
      <p:sp>
        <p:nvSpPr>
          <p:cNvPr id="3" name="Shape 1"/>
          <p:cNvSpPr/>
          <p:nvPr/>
        </p:nvSpPr>
        <p:spPr>
          <a:xfrm>
            <a:off x="812800" y="1671290"/>
            <a:ext cx="2489200" cy="1772890"/>
          </a:xfrm>
          <a:prstGeom prst="roundRect">
            <a:avLst>
              <a:gd name="adj" fmla="val 5731"/>
            </a:avLst>
          </a:prstGeom>
          <a:solidFill>
            <a:srgbClr val="1F3358"/>
          </a:solidFill>
          <a:ln/>
        </p:spPr>
      </p:sp>
      <p:sp>
        <p:nvSpPr>
          <p:cNvPr id="4" name="Text 2"/>
          <p:cNvSpPr/>
          <p:nvPr/>
        </p:nvSpPr>
        <p:spPr>
          <a:xfrm>
            <a:off x="1016000" y="1874490"/>
            <a:ext cx="21452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7F8BA3"/>
                </a:solidFill>
                <a:latin typeface="Space Grotesk" pitchFamily="34" charset="0"/>
                <a:ea typeface="Space Grotesk" pitchFamily="34" charset="-122"/>
                <a:cs typeface="Space Grotesk" pitchFamily="34" charset="-120"/>
              </a:rPr>
              <a:t>0</a:t>
            </a:r>
            <a:endParaRPr lang="en-US" sz="6000" dirty="0"/>
          </a:p>
        </p:txBody>
      </p:sp>
      <p:sp>
        <p:nvSpPr>
          <p:cNvPr id="5" name="Text 3"/>
          <p:cNvSpPr/>
          <p:nvPr/>
        </p:nvSpPr>
        <p:spPr>
          <a:xfrm>
            <a:off x="1016000" y="2687290"/>
            <a:ext cx="2145284"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kriitilist</a:t>
            </a:r>
            <a:endParaRPr lang="en-US" sz="3600" dirty="0"/>
          </a:p>
        </p:txBody>
      </p:sp>
      <p:sp>
        <p:nvSpPr>
          <p:cNvPr id="6" name="Shape 4"/>
          <p:cNvSpPr/>
          <p:nvPr/>
        </p:nvSpPr>
        <p:spPr>
          <a:xfrm>
            <a:off x="3505200" y="1671290"/>
            <a:ext cx="2489200" cy="1772890"/>
          </a:xfrm>
          <a:prstGeom prst="roundRect">
            <a:avLst>
              <a:gd name="adj" fmla="val 5731"/>
            </a:avLst>
          </a:prstGeom>
          <a:solidFill>
            <a:srgbClr val="1F3358"/>
          </a:solidFill>
          <a:ln/>
        </p:spPr>
      </p:sp>
      <p:sp>
        <p:nvSpPr>
          <p:cNvPr id="7" name="Shape 5"/>
          <p:cNvSpPr/>
          <p:nvPr/>
        </p:nvSpPr>
        <p:spPr>
          <a:xfrm>
            <a:off x="3505200" y="1671290"/>
            <a:ext cx="2489200" cy="1772890"/>
          </a:xfrm>
          <a:custGeom>
            <a:avLst/>
            <a:gdLst/>
            <a:ahLst/>
            <a:cxnLst/>
            <a:rect l="l" t="t" r="r" b="b"/>
            <a:pathLst>
              <a:path w="2489200" h="1772890">
                <a:moveTo>
                  <a:pt x="0" y="101600"/>
                </a:moveTo>
                <a:lnTo>
                  <a:pt x="0" y="101600"/>
                </a:lnTo>
                <a:arcTo wR="101600" hR="101600" stAng="10800000" swAng="5400000"/>
                <a:lnTo>
                  <a:pt x="2387600" y="0"/>
                </a:lnTo>
                <a:arcTo wR="101600" hR="101600" stAng="16200000" swAng="5400000"/>
                <a:lnTo>
                  <a:pt x="2489200" y="101600"/>
                </a:lnTo>
                <a:arcTo wR="101600" hR="50800" stAng="0" swAng="-5400000"/>
                <a:lnTo>
                  <a:pt x="101600" y="50800"/>
                </a:lnTo>
                <a:arcTo wR="101600" hR="50800" stAng="16200000" swAng="-5400000"/>
                <a:close/>
              </a:path>
            </a:pathLst>
          </a:custGeom>
          <a:solidFill>
            <a:srgbClr val="FF8A5B"/>
          </a:solidFill>
          <a:ln/>
        </p:spPr>
      </p:sp>
      <p:sp>
        <p:nvSpPr>
          <p:cNvPr id="8" name="Text 6"/>
          <p:cNvSpPr/>
          <p:nvPr/>
        </p:nvSpPr>
        <p:spPr>
          <a:xfrm>
            <a:off x="3708400" y="1925290"/>
            <a:ext cx="21452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F8A5B"/>
                </a:solidFill>
                <a:latin typeface="Space Grotesk" pitchFamily="34" charset="0"/>
                <a:ea typeface="Space Grotesk" pitchFamily="34" charset="-122"/>
                <a:cs typeface="Space Grotesk" pitchFamily="34" charset="-120"/>
              </a:rPr>
              <a:t>1</a:t>
            </a:r>
            <a:endParaRPr lang="en-US" sz="6000" dirty="0"/>
          </a:p>
        </p:txBody>
      </p:sp>
      <p:sp>
        <p:nvSpPr>
          <p:cNvPr id="9" name="Text 7"/>
          <p:cNvSpPr/>
          <p:nvPr/>
        </p:nvSpPr>
        <p:spPr>
          <a:xfrm>
            <a:off x="3708400" y="2738090"/>
            <a:ext cx="2145284"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kõrge</a:t>
            </a:r>
            <a:endParaRPr lang="en-US" sz="3600" dirty="0"/>
          </a:p>
        </p:txBody>
      </p:sp>
      <p:sp>
        <p:nvSpPr>
          <p:cNvPr id="10" name="Shape 8"/>
          <p:cNvSpPr/>
          <p:nvPr/>
        </p:nvSpPr>
        <p:spPr>
          <a:xfrm>
            <a:off x="6197600" y="1671290"/>
            <a:ext cx="2489200" cy="1772890"/>
          </a:xfrm>
          <a:prstGeom prst="roundRect">
            <a:avLst>
              <a:gd name="adj" fmla="val 5731"/>
            </a:avLst>
          </a:prstGeom>
          <a:solidFill>
            <a:srgbClr val="1F3358"/>
          </a:solidFill>
          <a:ln/>
        </p:spPr>
      </p:sp>
      <p:sp>
        <p:nvSpPr>
          <p:cNvPr id="11" name="Shape 9"/>
          <p:cNvSpPr/>
          <p:nvPr/>
        </p:nvSpPr>
        <p:spPr>
          <a:xfrm>
            <a:off x="6197600" y="1671290"/>
            <a:ext cx="2489200" cy="1772890"/>
          </a:xfrm>
          <a:custGeom>
            <a:avLst/>
            <a:gdLst/>
            <a:ahLst/>
            <a:cxnLst/>
            <a:rect l="l" t="t" r="r" b="b"/>
            <a:pathLst>
              <a:path w="2489200" h="1772890">
                <a:moveTo>
                  <a:pt x="0" y="101600"/>
                </a:moveTo>
                <a:lnTo>
                  <a:pt x="0" y="101600"/>
                </a:lnTo>
                <a:arcTo wR="101600" hR="101600" stAng="10800000" swAng="5400000"/>
                <a:lnTo>
                  <a:pt x="2387600" y="0"/>
                </a:lnTo>
                <a:arcTo wR="101600" hR="101600" stAng="16200000" swAng="5400000"/>
                <a:lnTo>
                  <a:pt x="2489200" y="101600"/>
                </a:lnTo>
                <a:arcTo wR="101600" hR="50800" stAng="0" swAng="-5400000"/>
                <a:lnTo>
                  <a:pt x="101600" y="50800"/>
                </a:lnTo>
                <a:arcTo wR="101600" hR="50800" stAng="16200000" swAng="-5400000"/>
                <a:close/>
              </a:path>
            </a:pathLst>
          </a:custGeom>
          <a:solidFill>
            <a:srgbClr val="F2C94C"/>
          </a:solidFill>
          <a:ln/>
        </p:spPr>
      </p:sp>
      <p:sp>
        <p:nvSpPr>
          <p:cNvPr id="12" name="Text 10"/>
          <p:cNvSpPr/>
          <p:nvPr/>
        </p:nvSpPr>
        <p:spPr>
          <a:xfrm>
            <a:off x="6400800" y="1925290"/>
            <a:ext cx="21452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2C94C"/>
                </a:solidFill>
                <a:latin typeface="Space Grotesk" pitchFamily="34" charset="0"/>
                <a:ea typeface="Space Grotesk" pitchFamily="34" charset="-122"/>
                <a:cs typeface="Space Grotesk" pitchFamily="34" charset="-120"/>
              </a:rPr>
              <a:t>4</a:t>
            </a:r>
            <a:endParaRPr lang="en-US" sz="6000" dirty="0"/>
          </a:p>
        </p:txBody>
      </p:sp>
      <p:sp>
        <p:nvSpPr>
          <p:cNvPr id="13" name="Text 11"/>
          <p:cNvSpPr/>
          <p:nvPr/>
        </p:nvSpPr>
        <p:spPr>
          <a:xfrm>
            <a:off x="6400800" y="2738090"/>
            <a:ext cx="2145284"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keskmist</a:t>
            </a:r>
            <a:endParaRPr lang="en-US" sz="3600" dirty="0"/>
          </a:p>
        </p:txBody>
      </p:sp>
      <p:sp>
        <p:nvSpPr>
          <p:cNvPr id="14" name="Shape 12"/>
          <p:cNvSpPr/>
          <p:nvPr/>
        </p:nvSpPr>
        <p:spPr>
          <a:xfrm>
            <a:off x="8890000" y="1671290"/>
            <a:ext cx="2489200" cy="1772890"/>
          </a:xfrm>
          <a:prstGeom prst="roundRect">
            <a:avLst>
              <a:gd name="adj" fmla="val 5731"/>
            </a:avLst>
          </a:prstGeom>
          <a:solidFill>
            <a:srgbClr val="1F3358"/>
          </a:solidFill>
          <a:ln/>
        </p:spPr>
      </p:sp>
      <p:sp>
        <p:nvSpPr>
          <p:cNvPr id="15" name="Shape 13"/>
          <p:cNvSpPr/>
          <p:nvPr/>
        </p:nvSpPr>
        <p:spPr>
          <a:xfrm>
            <a:off x="8890000" y="1671290"/>
            <a:ext cx="2489200" cy="1772890"/>
          </a:xfrm>
          <a:custGeom>
            <a:avLst/>
            <a:gdLst/>
            <a:ahLst/>
            <a:cxnLst/>
            <a:rect l="l" t="t" r="r" b="b"/>
            <a:pathLst>
              <a:path w="2489200" h="1772890">
                <a:moveTo>
                  <a:pt x="0" y="101600"/>
                </a:moveTo>
                <a:lnTo>
                  <a:pt x="0" y="101600"/>
                </a:lnTo>
                <a:arcTo wR="101600" hR="101600" stAng="10800000" swAng="5400000"/>
                <a:lnTo>
                  <a:pt x="2387600" y="0"/>
                </a:lnTo>
                <a:arcTo wR="101600" hR="101600" stAng="16200000" swAng="5400000"/>
                <a:lnTo>
                  <a:pt x="2489200" y="101600"/>
                </a:lnTo>
                <a:arcTo wR="101600" hR="50800" stAng="0" swAng="-5400000"/>
                <a:lnTo>
                  <a:pt x="101600" y="50800"/>
                </a:lnTo>
                <a:arcTo wR="101600" hR="50800" stAng="16200000" swAng="-5400000"/>
                <a:close/>
              </a:path>
            </a:pathLst>
          </a:custGeom>
          <a:solidFill>
            <a:srgbClr val="8FB0FF"/>
          </a:solidFill>
          <a:ln/>
        </p:spPr>
      </p:sp>
      <p:sp>
        <p:nvSpPr>
          <p:cNvPr id="16" name="Text 14"/>
          <p:cNvSpPr/>
          <p:nvPr/>
        </p:nvSpPr>
        <p:spPr>
          <a:xfrm>
            <a:off x="9093200" y="1925290"/>
            <a:ext cx="21452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8FB0FF"/>
                </a:solidFill>
                <a:latin typeface="Space Grotesk" pitchFamily="34" charset="0"/>
                <a:ea typeface="Space Grotesk" pitchFamily="34" charset="-122"/>
                <a:cs typeface="Space Grotesk" pitchFamily="34" charset="-120"/>
              </a:rPr>
              <a:t>6</a:t>
            </a:r>
            <a:endParaRPr lang="en-US" sz="6000" dirty="0"/>
          </a:p>
        </p:txBody>
      </p:sp>
      <p:sp>
        <p:nvSpPr>
          <p:cNvPr id="17" name="Text 15"/>
          <p:cNvSpPr/>
          <p:nvPr/>
        </p:nvSpPr>
        <p:spPr>
          <a:xfrm>
            <a:off x="9093200" y="2738090"/>
            <a:ext cx="2145284"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6F5F0"/>
                </a:solidFill>
                <a:latin typeface="Space Grotesk" pitchFamily="34" charset="0"/>
                <a:ea typeface="Space Grotesk" pitchFamily="34" charset="-122"/>
                <a:cs typeface="Space Grotesk" pitchFamily="34" charset="-120"/>
              </a:rPr>
              <a:t>madalat</a:t>
            </a:r>
            <a:endParaRPr lang="en-US" sz="3600" dirty="0"/>
          </a:p>
        </p:txBody>
      </p:sp>
      <p:sp>
        <p:nvSpPr>
          <p:cNvPr id="18" name="Shape 16"/>
          <p:cNvSpPr/>
          <p:nvPr/>
        </p:nvSpPr>
        <p:spPr>
          <a:xfrm>
            <a:off x="812800" y="3799780"/>
            <a:ext cx="960586" cy="254000"/>
          </a:xfrm>
          <a:custGeom>
            <a:avLst/>
            <a:gdLst/>
            <a:ahLst/>
            <a:cxnLst/>
            <a:rect l="l" t="t" r="r" b="b"/>
            <a:pathLst>
              <a:path w="960586" h="254000">
                <a:moveTo>
                  <a:pt x="0" y="127000"/>
                </a:moveTo>
                <a:arcTo wR="127000" hR="127000" stAng="10800000" swAng="5400000"/>
                <a:lnTo>
                  <a:pt x="960586" y="0"/>
                </a:lnTo>
                <a:lnTo>
                  <a:pt x="960586" y="254000"/>
                </a:lnTo>
                <a:lnTo>
                  <a:pt x="127000" y="254000"/>
                </a:lnTo>
                <a:arcTo wR="127000" hR="127000" stAng="5400000" swAng="5400000"/>
                <a:close/>
              </a:path>
            </a:pathLst>
          </a:custGeom>
          <a:solidFill>
            <a:srgbClr val="FF8A5B"/>
          </a:solidFill>
          <a:ln/>
        </p:spPr>
      </p:sp>
      <p:sp>
        <p:nvSpPr>
          <p:cNvPr id="19" name="Shape 17"/>
          <p:cNvSpPr/>
          <p:nvPr/>
        </p:nvSpPr>
        <p:spPr>
          <a:xfrm>
            <a:off x="1773386" y="3799780"/>
            <a:ext cx="3842345" cy="254000"/>
          </a:xfrm>
          <a:prstGeom prst="rect">
            <a:avLst/>
          </a:prstGeom>
          <a:solidFill>
            <a:srgbClr val="F2C94C"/>
          </a:solidFill>
          <a:ln/>
        </p:spPr>
      </p:sp>
      <p:sp>
        <p:nvSpPr>
          <p:cNvPr id="20" name="Shape 18"/>
          <p:cNvSpPr/>
          <p:nvPr/>
        </p:nvSpPr>
        <p:spPr>
          <a:xfrm>
            <a:off x="5615732" y="3799780"/>
            <a:ext cx="5763468" cy="254000"/>
          </a:xfrm>
          <a:custGeom>
            <a:avLst/>
            <a:gdLst/>
            <a:ahLst/>
            <a:cxnLst/>
            <a:rect l="l" t="t" r="r" b="b"/>
            <a:pathLst>
              <a:path w="5763468" h="254000">
                <a:moveTo>
                  <a:pt x="5636468" y="0"/>
                </a:moveTo>
                <a:arcTo wR="127000" hR="127000" stAng="16200000" swAng="5400000"/>
                <a:lnTo>
                  <a:pt x="5763468" y="127000"/>
                </a:lnTo>
                <a:arcTo wR="127000" hR="127000" stAng="0" swAng="5400000"/>
                <a:lnTo>
                  <a:pt x="0" y="254000"/>
                </a:lnTo>
                <a:lnTo>
                  <a:pt x="0" y="0"/>
                </a:lnTo>
                <a:close/>
              </a:path>
            </a:pathLst>
          </a:custGeom>
          <a:solidFill>
            <a:srgbClr val="8FB0FF"/>
          </a:solidFill>
          <a:ln/>
        </p:spPr>
      </p:sp>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C2551A"/>
                </a:solidFill>
                <a:latin typeface="Space Grotesk" pitchFamily="34" charset="0"/>
                <a:ea typeface="Space Grotesk" pitchFamily="34" charset="-122"/>
                <a:cs typeface="Space Grotesk" pitchFamily="34" charset="-120"/>
              </a:rPr>
              <a:t>V-01</a:t>
            </a:r>
            <a:endParaRPr lang="en-US" sz="1800" dirty="0"/>
          </a:p>
        </p:txBody>
      </p:sp>
      <p:sp>
        <p:nvSpPr>
          <p:cNvPr id="3" name="Text 1"/>
          <p:cNvSpPr>
            <a:spLocks noGrp="1"/>
          </p:cNvSpPr>
          <p:nvPr>
            <p:ph type="title"/>
          </p:nvPr>
        </p:nvSpPr>
        <p:spPr>
          <a:xfrm>
            <a:off x="812800" y="118869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233F"/>
                </a:solidFill>
                <a:latin typeface="Space Grotesk" pitchFamily="34" charset="0"/>
                <a:ea typeface="Space Grotesk" pitchFamily="34" charset="-122"/>
                <a:cs typeface="Space Grotesk" pitchFamily="34" charset="-120"/>
              </a:rPr>
              <a:t>Valem x^x jooksutab rakenduse kokku</a:t>
            </a:r>
            <a:endParaRPr lang="en-US" sz="3600" dirty="0"/>
          </a:p>
        </p:txBody>
      </p:sp>
      <p:sp>
        <p:nvSpPr>
          <p:cNvPr id="4" name="Text 2"/>
          <p:cNvSpPr/>
          <p:nvPr/>
        </p:nvSpPr>
        <p:spPr>
          <a:xfrm>
            <a:off x="812800" y="3018185"/>
            <a:ext cx="4787646" cy="256530"/>
          </a:xfrm>
          <a:prstGeom prst="rect">
            <a:avLst/>
          </a:prstGeom>
          <a:noFill/>
          <a:ln/>
        </p:spPr>
        <p:txBody>
          <a:bodyPr wrap="square" lIns="0" tIns="0" rIns="0" bIns="0" rtlCol="0" anchor="t">
            <a:normAutofit/>
          </a:bodyPr>
          <a:lstStyle/>
          <a:p>
            <a:pPr marL="0" indent="0" algn="l">
              <a:lnSpc>
                <a:spcPts val="1820"/>
              </a:lnSpc>
              <a:buNone/>
            </a:pPr>
            <a:r>
              <a:rPr lang="en-US" sz="1300" b="1" kern="0" spc="50" dirty="0">
                <a:solidFill>
                  <a:srgbClr val="2557D6"/>
                </a:solidFill>
                <a:latin typeface="Public Sans" pitchFamily="34" charset="0"/>
                <a:ea typeface="Public Sans" pitchFamily="34" charset="-122"/>
                <a:cs typeface="Public Sans" pitchFamily="34" charset="-120"/>
              </a:rPr>
              <a:t>OODATUD</a:t>
            </a:r>
            <a:endParaRPr lang="en-US" sz="1300" dirty="0"/>
          </a:p>
        </p:txBody>
      </p:sp>
      <p:sp>
        <p:nvSpPr>
          <p:cNvPr id="5" name="Text 3"/>
          <p:cNvSpPr/>
          <p:nvPr/>
        </p:nvSpPr>
        <p:spPr>
          <a:xfrm>
            <a:off x="812800" y="3287415"/>
            <a:ext cx="4787646"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5233F"/>
                </a:solidFill>
                <a:latin typeface="Public Sans" pitchFamily="34" charset="0"/>
                <a:ea typeface="Public Sans" pitchFamily="34" charset="-122"/>
                <a:cs typeface="Public Sans" pitchFamily="34" charset="-120"/>
              </a:rPr>
              <a:t>Arusaadav veateade</a:t>
            </a:r>
            <a:endParaRPr lang="en-US" sz="1700" dirty="0"/>
          </a:p>
        </p:txBody>
      </p:sp>
      <p:sp>
        <p:nvSpPr>
          <p:cNvPr id="6" name="Text 4"/>
          <p:cNvSpPr/>
          <p:nvPr/>
        </p:nvSpPr>
        <p:spPr>
          <a:xfrm>
            <a:off x="812800" y="3771255"/>
            <a:ext cx="4787646" cy="256530"/>
          </a:xfrm>
          <a:prstGeom prst="rect">
            <a:avLst/>
          </a:prstGeom>
          <a:noFill/>
          <a:ln/>
        </p:spPr>
        <p:txBody>
          <a:bodyPr wrap="square" lIns="0" tIns="0" rIns="0" bIns="0" rtlCol="0" anchor="t">
            <a:normAutofit/>
          </a:bodyPr>
          <a:lstStyle/>
          <a:p>
            <a:pPr marL="0" indent="0" algn="l">
              <a:lnSpc>
                <a:spcPts val="1820"/>
              </a:lnSpc>
              <a:buNone/>
            </a:pPr>
            <a:r>
              <a:rPr lang="en-US" sz="1300" b="1" kern="0" spc="50" dirty="0">
                <a:solidFill>
                  <a:srgbClr val="2557D6"/>
                </a:solidFill>
                <a:latin typeface="Public Sans" pitchFamily="34" charset="0"/>
                <a:ea typeface="Public Sans" pitchFamily="34" charset="-122"/>
                <a:cs typeface="Public Sans" pitchFamily="34" charset="-120"/>
              </a:rPr>
              <a:t>TEGELIK</a:t>
            </a:r>
            <a:endParaRPr lang="en-US" sz="1300" dirty="0"/>
          </a:p>
        </p:txBody>
      </p:sp>
      <p:sp>
        <p:nvSpPr>
          <p:cNvPr id="7" name="Text 5"/>
          <p:cNvSpPr/>
          <p:nvPr/>
        </p:nvSpPr>
        <p:spPr>
          <a:xfrm>
            <a:off x="812800" y="4040485"/>
            <a:ext cx="4787646"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5233F"/>
                </a:solidFill>
                <a:latin typeface="Public Sans" pitchFamily="34" charset="0"/>
                <a:ea typeface="Public Sans" pitchFamily="34" charset="-122"/>
                <a:cs typeface="Public Sans" pitchFamily="34" charset="-120"/>
              </a:rPr>
              <a:t>HTTP 500 ja inglisekeelne erindileht</a:t>
            </a:r>
            <a:endParaRPr lang="en-US" sz="1700" dirty="0"/>
          </a:p>
        </p:txBody>
      </p:sp>
      <p:sp>
        <p:nvSpPr>
          <p:cNvPr id="8" name="Text 6"/>
          <p:cNvSpPr/>
          <p:nvPr/>
        </p:nvSpPr>
        <p:spPr>
          <a:xfrm>
            <a:off x="812800" y="4524325"/>
            <a:ext cx="4787646" cy="256530"/>
          </a:xfrm>
          <a:prstGeom prst="rect">
            <a:avLst/>
          </a:prstGeom>
          <a:noFill/>
          <a:ln/>
        </p:spPr>
        <p:txBody>
          <a:bodyPr wrap="square" lIns="0" tIns="0" rIns="0" bIns="0" rtlCol="0" anchor="t">
            <a:normAutofit/>
          </a:bodyPr>
          <a:lstStyle/>
          <a:p>
            <a:pPr marL="0" indent="0" algn="l">
              <a:lnSpc>
                <a:spcPts val="1820"/>
              </a:lnSpc>
              <a:buNone/>
            </a:pPr>
            <a:r>
              <a:rPr lang="en-US" sz="1300" b="1" kern="0" spc="50" dirty="0">
                <a:solidFill>
                  <a:srgbClr val="2557D6"/>
                </a:solidFill>
                <a:latin typeface="Public Sans" pitchFamily="34" charset="0"/>
                <a:ea typeface="Public Sans" pitchFamily="34" charset="-122"/>
                <a:cs typeface="Public Sans" pitchFamily="34" charset="-120"/>
              </a:rPr>
              <a:t>PÕHJUS</a:t>
            </a:r>
            <a:endParaRPr lang="en-US" sz="1300" dirty="0"/>
          </a:p>
        </p:txBody>
      </p:sp>
      <p:sp>
        <p:nvSpPr>
          <p:cNvPr id="9" name="Text 7"/>
          <p:cNvSpPr/>
          <p:nvPr/>
        </p:nvSpPr>
        <p:spPr>
          <a:xfrm>
            <a:off x="812800" y="4793555"/>
            <a:ext cx="4787646"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5233F"/>
                </a:solidFill>
                <a:latin typeface="Public Sans" pitchFamily="34" charset="0"/>
                <a:ea typeface="Public Sans" pitchFamily="34" charset="-122"/>
                <a:cs typeface="Public Sans" pitchFamily="34" charset="-120"/>
              </a:rPr>
              <a:t>Math.Sign ei talu NaN-väärtust</a:t>
            </a:r>
            <a:endParaRPr lang="en-US" sz="1700" dirty="0"/>
          </a:p>
        </p:txBody>
      </p:sp>
      <p:sp>
        <p:nvSpPr>
          <p:cNvPr id="10" name="Shape 8"/>
          <p:cNvSpPr/>
          <p:nvPr/>
        </p:nvSpPr>
        <p:spPr>
          <a:xfrm>
            <a:off x="5918200" y="2125315"/>
            <a:ext cx="5461000" cy="3841750"/>
          </a:xfrm>
          <a:prstGeom prst="roundRect">
            <a:avLst>
              <a:gd name="adj" fmla="val 3306"/>
            </a:avLst>
          </a:prstGeom>
          <a:solidFill>
            <a:srgbClr val="FFFFFF"/>
          </a:solidFill>
          <a:ln/>
        </p:spPr>
      </p:sp>
      <p:pic>
        <p:nvPicPr>
          <p:cNvPr id="11" name="Image 0" descr="Erindileht: ArithmeticException, Function does not accept floating point Not-a-Number values"/>
          <p:cNvPicPr>
            <a:picLocks noChangeAspect="1"/>
          </p:cNvPicPr>
          <p:nvPr/>
        </p:nvPicPr>
        <p:blipFill>
          <a:blip r:embed="rId3"/>
          <a:srcRect l="-23" r="-23"/>
          <a:stretch/>
        </p:blipFill>
        <p:spPr>
          <a:xfrm>
            <a:off x="5924550" y="2131665"/>
            <a:ext cx="5448300" cy="3829050"/>
          </a:xfrm>
          <a:prstGeom prst="roundRect">
            <a:avLst>
              <a:gd name="adj" fmla="val 3151"/>
            </a:avLst>
          </a:prstGeom>
        </p:spPr>
      </p:pic>
      <p:sp>
        <p:nvSpPr>
          <p:cNvPr id="12" name="Shape 9"/>
          <p:cNvSpPr/>
          <p:nvPr/>
        </p:nvSpPr>
        <p:spPr>
          <a:xfrm>
            <a:off x="5921375" y="2128490"/>
            <a:ext cx="5454650" cy="3835400"/>
          </a:xfrm>
          <a:prstGeom prst="roundRect">
            <a:avLst>
              <a:gd name="adj" fmla="val 3228"/>
            </a:avLst>
          </a:prstGeom>
          <a:noFill/>
          <a:ln w="6350">
            <a:solidFill>
              <a:srgbClr val="DCDAD2"/>
            </a:solidFill>
            <a:prstDash val="solid"/>
          </a:ln>
        </p:spPr>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233F"/>
                </a:solidFill>
                <a:latin typeface="Space Grotesk" pitchFamily="34" charset="0"/>
                <a:ea typeface="Space Grotesk" pitchFamily="34" charset="-122"/>
                <a:cs typeface="Space Grotesk" pitchFamily="34" charset="-120"/>
              </a:rPr>
              <a:t>Teised olulised vead</a:t>
            </a:r>
            <a:endParaRPr lang="en-US" sz="3600" dirty="0"/>
          </a:p>
        </p:txBody>
      </p:sp>
      <p:sp>
        <p:nvSpPr>
          <p:cNvPr id="3" name="Text 1"/>
          <p:cNvSpPr/>
          <p:nvPr/>
        </p:nvSpPr>
        <p:spPr>
          <a:xfrm>
            <a:off x="812800" y="2670820"/>
            <a:ext cx="629543" cy="332730"/>
          </a:xfrm>
          <a:prstGeom prst="roundRect">
            <a:avLst>
              <a:gd name="adj" fmla="val 50000"/>
            </a:avLst>
          </a:prstGeom>
          <a:solidFill>
            <a:srgbClr val="FBE9C2"/>
          </a:solidFill>
          <a:ln/>
        </p:spPr>
        <p:txBody>
          <a:bodyPr wrap="none" lIns="0" tIns="0" rIns="0" bIns="0" rtlCol="0" anchor="ctr">
            <a:normAutofit/>
          </a:bodyPr>
          <a:lstStyle/>
          <a:p>
            <a:pPr marL="0" indent="0" algn="ctr">
              <a:lnSpc>
                <a:spcPts val="1820"/>
              </a:lnSpc>
              <a:buNone/>
            </a:pPr>
            <a:r>
              <a:rPr lang="en-US" sz="1300" b="1" dirty="0">
                <a:solidFill>
                  <a:srgbClr val="6B4A00"/>
                </a:solidFill>
                <a:latin typeface="Public Sans" pitchFamily="34" charset="0"/>
                <a:ea typeface="Public Sans" pitchFamily="34" charset="-122"/>
                <a:cs typeface="Public Sans" pitchFamily="34" charset="-120"/>
              </a:rPr>
              <a:t>V-02</a:t>
            </a:r>
            <a:endParaRPr lang="en-US" sz="1300" dirty="0"/>
          </a:p>
        </p:txBody>
      </p:sp>
      <p:sp>
        <p:nvSpPr>
          <p:cNvPr id="4" name="Text 2"/>
          <p:cNvSpPr/>
          <p:nvPr/>
        </p:nvSpPr>
        <p:spPr>
          <a:xfrm>
            <a:off x="1620143" y="2705100"/>
            <a:ext cx="3339048"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5233F"/>
                </a:solidFill>
                <a:latin typeface="Public Sans" pitchFamily="34" charset="0"/>
                <a:ea typeface="Public Sans" pitchFamily="34" charset="-122"/>
                <a:cs typeface="Public Sans" pitchFamily="34" charset="-120"/>
              </a:rPr>
              <a:t>x/x</a:t>
            </a:r>
            <a:r>
              <a:rPr lang="en-US" sz="1600" dirty="0">
                <a:solidFill>
                  <a:srgbClr val="15233F"/>
                </a:solidFill>
                <a:latin typeface="Public Sans" pitchFamily="34" charset="0"/>
                <a:ea typeface="Public Sans" pitchFamily="34" charset="-122"/>
                <a:cs typeface="Public Sans" pitchFamily="34" charset="-120"/>
              </a:rPr>
              <a:t> — rakendus lubab ka x = 0</a:t>
            </a:r>
            <a:endParaRPr lang="en-US" sz="1600" dirty="0"/>
          </a:p>
        </p:txBody>
      </p:sp>
      <p:sp>
        <p:nvSpPr>
          <p:cNvPr id="5" name="Text 3"/>
          <p:cNvSpPr/>
          <p:nvPr/>
        </p:nvSpPr>
        <p:spPr>
          <a:xfrm>
            <a:off x="812800" y="3181350"/>
            <a:ext cx="634057" cy="332730"/>
          </a:xfrm>
          <a:prstGeom prst="roundRect">
            <a:avLst>
              <a:gd name="adj" fmla="val 50000"/>
            </a:avLst>
          </a:prstGeom>
          <a:solidFill>
            <a:srgbClr val="FBE9C2"/>
          </a:solidFill>
          <a:ln/>
        </p:spPr>
        <p:txBody>
          <a:bodyPr wrap="none" lIns="0" tIns="0" rIns="0" bIns="0" rtlCol="0" anchor="ctr">
            <a:normAutofit/>
          </a:bodyPr>
          <a:lstStyle/>
          <a:p>
            <a:pPr marL="0" indent="0" algn="ctr">
              <a:lnSpc>
                <a:spcPts val="1820"/>
              </a:lnSpc>
              <a:buNone/>
            </a:pPr>
            <a:r>
              <a:rPr lang="en-US" sz="1300" b="1" dirty="0">
                <a:solidFill>
                  <a:srgbClr val="6B4A00"/>
                </a:solidFill>
                <a:latin typeface="Public Sans" pitchFamily="34" charset="0"/>
                <a:ea typeface="Public Sans" pitchFamily="34" charset="-122"/>
                <a:cs typeface="Public Sans" pitchFamily="34" charset="-120"/>
              </a:rPr>
              <a:t>V-03</a:t>
            </a:r>
            <a:endParaRPr lang="en-US" sz="1300" dirty="0"/>
          </a:p>
        </p:txBody>
      </p:sp>
      <p:sp>
        <p:nvSpPr>
          <p:cNvPr id="6" name="Text 4"/>
          <p:cNvSpPr/>
          <p:nvPr/>
        </p:nvSpPr>
        <p:spPr>
          <a:xfrm>
            <a:off x="1624657" y="3215630"/>
            <a:ext cx="412218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5233F"/>
                </a:solidFill>
                <a:latin typeface="Public Sans" pitchFamily="34" charset="0"/>
                <a:ea typeface="Public Sans" pitchFamily="34" charset="-122"/>
                <a:cs typeface="Public Sans" pitchFamily="34" charset="-120"/>
              </a:rPr>
              <a:t>1/(x−100)</a:t>
            </a:r>
            <a:r>
              <a:rPr lang="en-US" sz="1600" dirty="0">
                <a:solidFill>
                  <a:srgbClr val="15233F"/>
                </a:solidFill>
                <a:latin typeface="Public Sans" pitchFamily="34" charset="0"/>
                <a:ea typeface="Public Sans" pitchFamily="34" charset="-122"/>
                <a:cs typeface="Public Sans" pitchFamily="34" charset="-120"/>
              </a:rPr>
              <a:t> — asümptoot jääb leidmata</a:t>
            </a:r>
            <a:endParaRPr lang="en-US" sz="1600" dirty="0"/>
          </a:p>
        </p:txBody>
      </p:sp>
      <p:sp>
        <p:nvSpPr>
          <p:cNvPr id="7" name="Text 5"/>
          <p:cNvSpPr/>
          <p:nvPr/>
        </p:nvSpPr>
        <p:spPr>
          <a:xfrm>
            <a:off x="812800" y="3691880"/>
            <a:ext cx="636488" cy="332730"/>
          </a:xfrm>
          <a:prstGeom prst="roundRect">
            <a:avLst>
              <a:gd name="adj" fmla="val 50000"/>
            </a:avLst>
          </a:prstGeom>
          <a:solidFill>
            <a:srgbClr val="FBE9C2"/>
          </a:solidFill>
          <a:ln/>
        </p:spPr>
        <p:txBody>
          <a:bodyPr wrap="none" lIns="0" tIns="0" rIns="0" bIns="0" rtlCol="0" anchor="ctr">
            <a:normAutofit/>
          </a:bodyPr>
          <a:lstStyle/>
          <a:p>
            <a:pPr marL="0" indent="0" algn="ctr">
              <a:lnSpc>
                <a:spcPts val="1820"/>
              </a:lnSpc>
              <a:buNone/>
            </a:pPr>
            <a:r>
              <a:rPr lang="en-US" sz="1300" b="1" dirty="0">
                <a:solidFill>
                  <a:srgbClr val="6B4A00"/>
                </a:solidFill>
                <a:latin typeface="Public Sans" pitchFamily="34" charset="0"/>
                <a:ea typeface="Public Sans" pitchFamily="34" charset="-122"/>
                <a:cs typeface="Public Sans" pitchFamily="34" charset="-120"/>
              </a:rPr>
              <a:t>V-05</a:t>
            </a:r>
            <a:endParaRPr lang="en-US" sz="1300" dirty="0"/>
          </a:p>
        </p:txBody>
      </p:sp>
      <p:sp>
        <p:nvSpPr>
          <p:cNvPr id="8" name="Text 6"/>
          <p:cNvSpPr/>
          <p:nvPr/>
        </p:nvSpPr>
        <p:spPr>
          <a:xfrm>
            <a:off x="1627088" y="3726160"/>
            <a:ext cx="3539133"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5233F"/>
                </a:solidFill>
                <a:latin typeface="Public Sans" pitchFamily="34" charset="0"/>
                <a:ea typeface="Public Sans" pitchFamily="34" charset="-122"/>
                <a:cs typeface="Public Sans" pitchFamily="34" charset="-120"/>
              </a:rPr>
              <a:t>Tuletise f′(x) graafikut ei kuvata</a:t>
            </a:r>
            <a:endParaRPr lang="en-US" sz="1600" dirty="0"/>
          </a:p>
        </p:txBody>
      </p:sp>
      <p:sp>
        <p:nvSpPr>
          <p:cNvPr id="9" name="Text 7"/>
          <p:cNvSpPr/>
          <p:nvPr/>
        </p:nvSpPr>
        <p:spPr>
          <a:xfrm>
            <a:off x="812800" y="4202410"/>
            <a:ext cx="633065" cy="332730"/>
          </a:xfrm>
          <a:prstGeom prst="roundRect">
            <a:avLst>
              <a:gd name="adj" fmla="val 50000"/>
            </a:avLst>
          </a:prstGeom>
          <a:solidFill>
            <a:srgbClr val="DCE6FB"/>
          </a:solidFill>
          <a:ln/>
        </p:spPr>
        <p:txBody>
          <a:bodyPr wrap="none" lIns="0" tIns="0" rIns="0" bIns="0" rtlCol="0" anchor="ctr">
            <a:normAutofit/>
          </a:bodyPr>
          <a:lstStyle/>
          <a:p>
            <a:pPr marL="0" indent="0" algn="ctr">
              <a:lnSpc>
                <a:spcPts val="1820"/>
              </a:lnSpc>
              <a:buNone/>
            </a:pPr>
            <a:r>
              <a:rPr lang="en-US" sz="1300" b="1" dirty="0">
                <a:solidFill>
                  <a:srgbClr val="1C3F99"/>
                </a:solidFill>
                <a:latin typeface="Public Sans" pitchFamily="34" charset="0"/>
                <a:ea typeface="Public Sans" pitchFamily="34" charset="-122"/>
                <a:cs typeface="Public Sans" pitchFamily="34" charset="-120"/>
              </a:rPr>
              <a:t>V-06</a:t>
            </a:r>
            <a:endParaRPr lang="en-US" sz="1300" dirty="0"/>
          </a:p>
        </p:txBody>
      </p:sp>
      <p:sp>
        <p:nvSpPr>
          <p:cNvPr id="10" name="Text 8"/>
          <p:cNvSpPr/>
          <p:nvPr/>
        </p:nvSpPr>
        <p:spPr>
          <a:xfrm>
            <a:off x="1623665" y="4236690"/>
            <a:ext cx="4292084"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5233F"/>
                </a:solidFill>
                <a:latin typeface="Public Sans" pitchFamily="34" charset="0"/>
                <a:ea typeface="Public Sans" pitchFamily="34" charset="-122"/>
                <a:cs typeface="Public Sans" pitchFamily="34" charset="-120"/>
              </a:rPr>
              <a:t>Teooria leht ei mahu telefoni ekraanile</a:t>
            </a:r>
            <a:endParaRPr lang="en-US" sz="1600" dirty="0"/>
          </a:p>
        </p:txBody>
      </p:sp>
      <p:sp>
        <p:nvSpPr>
          <p:cNvPr id="11" name="Text 9"/>
          <p:cNvSpPr/>
          <p:nvPr/>
        </p:nvSpPr>
        <p:spPr>
          <a:xfrm>
            <a:off x="812800" y="4712940"/>
            <a:ext cx="626269" cy="332730"/>
          </a:xfrm>
          <a:prstGeom prst="roundRect">
            <a:avLst>
              <a:gd name="adj" fmla="val 50000"/>
            </a:avLst>
          </a:prstGeom>
          <a:solidFill>
            <a:srgbClr val="DCE6FB"/>
          </a:solidFill>
          <a:ln/>
        </p:spPr>
        <p:txBody>
          <a:bodyPr wrap="none" lIns="0" tIns="0" rIns="0" bIns="0" rtlCol="0" anchor="ctr">
            <a:normAutofit/>
          </a:bodyPr>
          <a:lstStyle/>
          <a:p>
            <a:pPr marL="0" indent="0" algn="ctr">
              <a:lnSpc>
                <a:spcPts val="1820"/>
              </a:lnSpc>
              <a:buNone/>
            </a:pPr>
            <a:r>
              <a:rPr lang="en-US" sz="1300" b="1" dirty="0">
                <a:solidFill>
                  <a:srgbClr val="1C3F99"/>
                </a:solidFill>
                <a:latin typeface="Public Sans" pitchFamily="34" charset="0"/>
                <a:ea typeface="Public Sans" pitchFamily="34" charset="-122"/>
                <a:cs typeface="Public Sans" pitchFamily="34" charset="-120"/>
              </a:rPr>
              <a:t>V-07</a:t>
            </a:r>
            <a:endParaRPr lang="en-US" sz="1300" dirty="0"/>
          </a:p>
        </p:txBody>
      </p:sp>
      <p:sp>
        <p:nvSpPr>
          <p:cNvPr id="12" name="Text 10"/>
          <p:cNvSpPr/>
          <p:nvPr/>
        </p:nvSpPr>
        <p:spPr>
          <a:xfrm>
            <a:off x="1616869" y="4747220"/>
            <a:ext cx="3450134"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5233F"/>
                </a:solidFill>
                <a:latin typeface="Public Sans" pitchFamily="34" charset="0"/>
                <a:ea typeface="Public Sans" pitchFamily="34" charset="-122"/>
                <a:cs typeface="Public Sans" pitchFamily="34" charset="-120"/>
              </a:rPr>
              <a:t>Ilma internetita graafik ei laadi</a:t>
            </a:r>
            <a:endParaRPr lang="en-US" sz="1600" dirty="0"/>
          </a:p>
        </p:txBody>
      </p:sp>
      <p:sp>
        <p:nvSpPr>
          <p:cNvPr id="13" name="Shape 11"/>
          <p:cNvSpPr/>
          <p:nvPr/>
        </p:nvSpPr>
        <p:spPr>
          <a:xfrm>
            <a:off x="9474200" y="1637060"/>
            <a:ext cx="1905000" cy="4127500"/>
          </a:xfrm>
          <a:prstGeom prst="roundRect">
            <a:avLst>
              <a:gd name="adj" fmla="val 9333"/>
            </a:avLst>
          </a:prstGeom>
          <a:solidFill>
            <a:srgbClr val="FFFFFF"/>
          </a:solidFill>
          <a:ln/>
        </p:spPr>
      </p:sp>
      <p:pic>
        <p:nvPicPr>
          <p:cNvPr id="14" name="Image 0" descr="Teooria leht 375 px laiusel telefonis, kaardid on paremalt ära lõigatud"/>
          <p:cNvPicPr>
            <a:picLocks noChangeAspect="1"/>
          </p:cNvPicPr>
          <p:nvPr/>
        </p:nvPicPr>
        <p:blipFill>
          <a:blip r:embed="rId3"/>
          <a:srcRect t="-212" b="-212"/>
          <a:stretch/>
        </p:blipFill>
        <p:spPr>
          <a:xfrm>
            <a:off x="9480550" y="1643410"/>
            <a:ext cx="1892300" cy="4114800"/>
          </a:xfrm>
          <a:prstGeom prst="roundRect">
            <a:avLst>
              <a:gd name="adj" fmla="val 9060"/>
            </a:avLst>
          </a:prstGeom>
        </p:spPr>
      </p:pic>
      <p:sp>
        <p:nvSpPr>
          <p:cNvPr id="15" name="Shape 12"/>
          <p:cNvSpPr/>
          <p:nvPr/>
        </p:nvSpPr>
        <p:spPr>
          <a:xfrm>
            <a:off x="9477375" y="1640235"/>
            <a:ext cx="1898650" cy="4121150"/>
          </a:xfrm>
          <a:prstGeom prst="roundRect">
            <a:avLst>
              <a:gd name="adj" fmla="val 9197"/>
            </a:avLst>
          </a:prstGeom>
          <a:noFill/>
          <a:ln w="6350">
            <a:solidFill>
              <a:srgbClr val="DCDAD2"/>
            </a:solidFill>
            <a:prstDash val="solid"/>
          </a:ln>
        </p:spPr>
      </p:sp>
      <p:sp>
        <p:nvSpPr>
          <p:cNvPr id="16" name="Text 13"/>
          <p:cNvSpPr/>
          <p:nvPr/>
        </p:nvSpPr>
        <p:spPr>
          <a:xfrm>
            <a:off x="9479459" y="5866160"/>
            <a:ext cx="22733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Public Sans" pitchFamily="34" charset="0"/>
                <a:ea typeface="Public Sans" pitchFamily="34" charset="-122"/>
                <a:cs typeface="Public Sans" pitchFamily="34" charset="-120"/>
              </a:rPr>
              <a:t>V-06: Teooria leht telefonis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233F"/>
                </a:solidFill>
                <a:latin typeface="Space Grotesk" pitchFamily="34" charset="0"/>
                <a:ea typeface="Space Grotesk" pitchFamily="34" charset="-122"/>
                <a:cs typeface="Space Grotesk" pitchFamily="34" charset="-120"/>
              </a:rPr>
              <a:t>Ühiktestid</a:t>
            </a:r>
            <a:endParaRPr lang="en-US" sz="3600" dirty="0"/>
          </a:p>
        </p:txBody>
      </p:sp>
      <p:sp>
        <p:nvSpPr>
          <p:cNvPr id="3" name="Text 1"/>
          <p:cNvSpPr/>
          <p:nvPr/>
        </p:nvSpPr>
        <p:spPr>
          <a:xfrm>
            <a:off x="812800" y="1569690"/>
            <a:ext cx="877739" cy="393700"/>
          </a:xfrm>
          <a:prstGeom prst="roundRect">
            <a:avLst>
              <a:gd name="adj" fmla="val 50000"/>
            </a:avLst>
          </a:prstGeom>
          <a:solidFill>
            <a:srgbClr val="15233F"/>
          </a:solidFill>
          <a:ln/>
        </p:spPr>
        <p:txBody>
          <a:bodyPr wrap="none" lIns="0" tIns="0" rIns="0" bIns="0" rtlCol="0" anchor="ctr">
            <a:normAutofit/>
          </a:bodyPr>
          <a:lstStyle/>
          <a:p>
            <a:pPr marL="0" indent="0" algn="ctr">
              <a:lnSpc>
                <a:spcPts val="2100"/>
              </a:lnSpc>
              <a:buNone/>
            </a:pPr>
            <a:r>
              <a:rPr lang="en-US" sz="1500" b="1" dirty="0">
                <a:solidFill>
                  <a:srgbClr val="F6F5F0"/>
                </a:solidFill>
                <a:latin typeface="Public Sans" pitchFamily="34" charset="0"/>
                <a:ea typeface="Public Sans" pitchFamily="34" charset="-122"/>
                <a:cs typeface="Public Sans" pitchFamily="34" charset="-120"/>
              </a:rPr>
              <a:t>9 testi</a:t>
            </a:r>
            <a:endParaRPr lang="en-US" sz="1500" dirty="0"/>
          </a:p>
        </p:txBody>
      </p:sp>
      <p:sp>
        <p:nvSpPr>
          <p:cNvPr id="4" name="Text 2"/>
          <p:cNvSpPr/>
          <p:nvPr/>
        </p:nvSpPr>
        <p:spPr>
          <a:xfrm>
            <a:off x="1842939" y="1569690"/>
            <a:ext cx="895152" cy="393700"/>
          </a:xfrm>
          <a:prstGeom prst="roundRect">
            <a:avLst>
              <a:gd name="adj" fmla="val 50000"/>
            </a:avLst>
          </a:prstGeom>
          <a:solidFill>
            <a:srgbClr val="D7F0E1"/>
          </a:solidFill>
          <a:ln/>
        </p:spPr>
        <p:txBody>
          <a:bodyPr wrap="none" lIns="0" tIns="0" rIns="0" bIns="0" rtlCol="0" anchor="ctr">
            <a:normAutofit/>
          </a:bodyPr>
          <a:lstStyle/>
          <a:p>
            <a:pPr marL="0" indent="0" algn="ctr">
              <a:lnSpc>
                <a:spcPts val="2100"/>
              </a:lnSpc>
              <a:buNone/>
            </a:pPr>
            <a:r>
              <a:rPr lang="en-US" sz="1500" b="1" dirty="0">
                <a:solidFill>
                  <a:srgbClr val="14553A"/>
                </a:solidFill>
                <a:latin typeface="Public Sans" pitchFamily="34" charset="0"/>
                <a:ea typeface="Public Sans" pitchFamily="34" charset="-122"/>
                <a:cs typeface="Public Sans" pitchFamily="34" charset="-120"/>
              </a:rPr>
              <a:t>7 läbis</a:t>
            </a:r>
            <a:endParaRPr lang="en-US" sz="1500" dirty="0"/>
          </a:p>
        </p:txBody>
      </p:sp>
      <p:sp>
        <p:nvSpPr>
          <p:cNvPr id="5" name="Text 3"/>
          <p:cNvSpPr/>
          <p:nvPr/>
        </p:nvSpPr>
        <p:spPr>
          <a:xfrm>
            <a:off x="2890490" y="1569690"/>
            <a:ext cx="1487140" cy="393700"/>
          </a:xfrm>
          <a:prstGeom prst="roundRect">
            <a:avLst>
              <a:gd name="adj" fmla="val 50000"/>
            </a:avLst>
          </a:prstGeom>
          <a:solidFill>
            <a:srgbClr val="FBDCCD"/>
          </a:solidFill>
          <a:ln/>
        </p:spPr>
        <p:txBody>
          <a:bodyPr wrap="none" lIns="0" tIns="0" rIns="0" bIns="0" rtlCol="0" anchor="ctr">
            <a:normAutofit/>
          </a:bodyPr>
          <a:lstStyle/>
          <a:p>
            <a:pPr marL="0" indent="0" algn="ctr">
              <a:lnSpc>
                <a:spcPts val="2100"/>
              </a:lnSpc>
              <a:buNone/>
            </a:pPr>
            <a:r>
              <a:rPr lang="en-US" sz="1500" b="1" dirty="0">
                <a:solidFill>
                  <a:srgbClr val="8A3410"/>
                </a:solidFill>
                <a:latin typeface="Public Sans" pitchFamily="34" charset="0"/>
                <a:ea typeface="Public Sans" pitchFamily="34" charset="-122"/>
                <a:cs typeface="Public Sans" pitchFamily="34" charset="-120"/>
              </a:rPr>
              <a:t>2 kukkus läbi</a:t>
            </a:r>
            <a:endParaRPr lang="en-US" sz="1500" dirty="0"/>
          </a:p>
        </p:txBody>
      </p:sp>
      <p:sp>
        <p:nvSpPr>
          <p:cNvPr id="6" name="Shape 4"/>
          <p:cNvSpPr/>
          <p:nvPr/>
        </p:nvSpPr>
        <p:spPr>
          <a:xfrm>
            <a:off x="812800" y="2217390"/>
            <a:ext cx="10566400" cy="3746500"/>
          </a:xfrm>
          <a:prstGeom prst="roundRect">
            <a:avLst>
              <a:gd name="adj" fmla="val 3390"/>
            </a:avLst>
          </a:prstGeom>
          <a:solidFill>
            <a:srgbClr val="1E1E1E"/>
          </a:solidFill>
          <a:ln/>
        </p:spPr>
      </p:sp>
      <p:pic>
        <p:nvPicPr>
          <p:cNvPr id="7" name="Image 0" descr="dotnet test väljund: 9 testi, 7 läbis, 2 kukkus läbi"/>
          <p:cNvPicPr>
            <a:picLocks noChangeAspect="1"/>
          </p:cNvPicPr>
          <p:nvPr/>
        </p:nvPicPr>
        <p:blipFill>
          <a:blip r:embed="rId3"/>
          <a:stretch>
            <a:fillRect/>
          </a:stretch>
        </p:blipFill>
        <p:spPr>
          <a:xfrm>
            <a:off x="1890745" y="2217390"/>
            <a:ext cx="8410510" cy="3746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233F"/>
                </a:solidFill>
                <a:latin typeface="Space Grotesk" pitchFamily="34" charset="0"/>
                <a:ea typeface="Space Grotesk" pitchFamily="34" charset="-122"/>
                <a:cs typeface="Space Grotesk" pitchFamily="34" charset="-120"/>
              </a:rPr>
              <a:t>Hinnang</a:t>
            </a:r>
            <a:endParaRPr lang="en-US" sz="3600" dirty="0"/>
          </a:p>
        </p:txBody>
      </p:sp>
      <p:sp>
        <p:nvSpPr>
          <p:cNvPr id="3" name="Text 1"/>
          <p:cNvSpPr/>
          <p:nvPr/>
        </p:nvSpPr>
        <p:spPr>
          <a:xfrm>
            <a:off x="812800" y="2081510"/>
            <a:ext cx="2877820"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2557D6"/>
                </a:solidFill>
                <a:latin typeface="Space Grotesk" pitchFamily="34" charset="0"/>
                <a:ea typeface="Space Grotesk" pitchFamily="34" charset="-122"/>
                <a:cs typeface="Space Grotesk" pitchFamily="34" charset="-120"/>
              </a:rPr>
              <a:t>84</a:t>
            </a:r>
            <a:endParaRPr lang="en-US" sz="10000" dirty="0"/>
          </a:p>
        </p:txBody>
      </p:sp>
      <p:sp>
        <p:nvSpPr>
          <p:cNvPr id="4" name="Text 2"/>
          <p:cNvSpPr/>
          <p:nvPr/>
        </p:nvSpPr>
        <p:spPr>
          <a:xfrm>
            <a:off x="812800" y="3427710"/>
            <a:ext cx="2877820"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5233F"/>
                </a:solidFill>
                <a:latin typeface="Public Sans" pitchFamily="34" charset="0"/>
                <a:ea typeface="Public Sans" pitchFamily="34" charset="-122"/>
                <a:cs typeface="Public Sans" pitchFamily="34" charset="-120"/>
              </a:rPr>
              <a:t>punkti 100-st</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229100" y="1682750"/>
          <a:ext cx="7150100" cy="2476500"/>
        </p:xfrm>
        <a:graphic>
          <a:graphicData uri="http://schemas.openxmlformats.org/drawingml/2006/table">
            <a:tbl>
              <a:tblPr/>
              <a:tblGrid>
                <a:gridCol w="4290060">
                  <a:extLst>
                    <a:ext uri="{9D8B030D-6E8A-4147-A177-3AD203B41FA5}">
                      <a16:colId xmlns:a16="http://schemas.microsoft.com/office/drawing/2014/main" val="20000"/>
                    </a:ext>
                  </a:extLst>
                </a:gridCol>
                <a:gridCol w="1430020">
                  <a:extLst>
                    <a:ext uri="{9D8B030D-6E8A-4147-A177-3AD203B41FA5}">
                      <a16:colId xmlns:a16="http://schemas.microsoft.com/office/drawing/2014/main" val="20001"/>
                    </a:ext>
                  </a:extLst>
                </a:gridCol>
                <a:gridCol w="1430020">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5233F"/>
                          </a:solidFill>
                          <a:latin typeface="Public Sans" pitchFamily="34" charset="0"/>
                          <a:ea typeface="Public Sans" pitchFamily="34" charset="-122"/>
                          <a:cs typeface="Public Sans" pitchFamily="34" charset="-120"/>
                        </a:rPr>
                        <a:t>Kriteerium</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gn="r">
                        <a:lnSpc>
                          <a:spcPts val="2100"/>
                        </a:lnSpc>
                        <a:buNone/>
                      </a:pPr>
                      <a:r>
                        <a:rPr lang="en-US" sz="1500" b="1" dirty="0">
                          <a:solidFill>
                            <a:srgbClr val="15233F"/>
                          </a:solidFill>
                          <a:latin typeface="Public Sans" pitchFamily="34" charset="0"/>
                          <a:ea typeface="Public Sans" pitchFamily="34" charset="-122"/>
                          <a:cs typeface="Public Sans" pitchFamily="34" charset="-120"/>
                        </a:rPr>
                        <a:t>Max</a:t>
                      </a:r>
                      <a:endParaRPr lang="en-US" sz="1500" dirty="0">
                        <a:latin typeface="Public Sans" charset="0"/>
                        <a:ea typeface="Public Sans" charset="0"/>
                        <a:cs typeface="Public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gn="r">
                        <a:lnSpc>
                          <a:spcPts val="2100"/>
                        </a:lnSpc>
                        <a:buNone/>
                      </a:pPr>
                      <a:r>
                        <a:rPr lang="en-US" sz="1500" b="1" dirty="0">
                          <a:solidFill>
                            <a:srgbClr val="15233F"/>
                          </a:solidFill>
                          <a:latin typeface="Public Sans" pitchFamily="34" charset="0"/>
                          <a:ea typeface="Public Sans" pitchFamily="34" charset="-122"/>
                          <a:cs typeface="Public Sans" pitchFamily="34" charset="-120"/>
                        </a:rPr>
                        <a:t>Sain</a:t>
                      </a:r>
                      <a:endParaRPr lang="en-US" sz="1500" dirty="0">
                        <a:latin typeface="Public Sans" charset="0"/>
                        <a:ea typeface="Public Sans" charset="0"/>
                        <a:cs typeface="Public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5233F"/>
                          </a:solidFill>
                          <a:latin typeface="Public Sans" pitchFamily="34" charset="0"/>
                          <a:ea typeface="Public Sans" pitchFamily="34" charset="-122"/>
                          <a:cs typeface="Public Sans" pitchFamily="34" charset="-120"/>
                        </a:rPr>
                        <a:t>EF Core ja andmebaas</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30</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28</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5233F"/>
                          </a:solidFill>
                          <a:latin typeface="Public Sans" pitchFamily="34" charset="0"/>
                          <a:ea typeface="Public Sans" pitchFamily="34" charset="-122"/>
                          <a:cs typeface="Public Sans" pitchFamily="34" charset="-120"/>
                        </a:rPr>
                        <a:t>Backend ja valideerimine</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25</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20</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5233F"/>
                          </a:solidFill>
                          <a:latin typeface="Public Sans" pitchFamily="34" charset="0"/>
                          <a:ea typeface="Public Sans" pitchFamily="34" charset="-122"/>
                          <a:cs typeface="Public Sans" pitchFamily="34" charset="-120"/>
                        </a:rPr>
                        <a:t>Graafik ja kasutajaliides</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30</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24</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5233F"/>
                          </a:solidFill>
                          <a:latin typeface="Public Sans" pitchFamily="34" charset="0"/>
                          <a:ea typeface="Public Sans" pitchFamily="34" charset="-122"/>
                          <a:cs typeface="Public Sans" pitchFamily="34" charset="-120"/>
                        </a:rPr>
                        <a:t>Matemaatiline täpsus</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15</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12</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5233F"/>
                          </a:solidFill>
                          <a:latin typeface="Public Sans" pitchFamily="34" charset="0"/>
                          <a:ea typeface="Public Sans" pitchFamily="34" charset="-122"/>
                          <a:cs typeface="Public Sans" pitchFamily="34" charset="-120"/>
                        </a:rPr>
                        <a:t>Boonusülesanne</a:t>
                      </a:r>
                      <a:endParaRPr lang="en-US" sz="1500" dirty="0">
                        <a:latin typeface="Public Sans" charset="0"/>
                        <a:ea typeface="Public Sans" charset="0"/>
                        <a:cs typeface="Public Sans"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9"/>
                    </a:solidFill>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+15</a:t>
                      </a:r>
                      <a:endParaRPr lang="en-US" sz="1500" dirty="0">
                        <a:latin typeface="Public Sans" charset="0"/>
                        <a:ea typeface="Public Sans" charset="0"/>
                        <a:cs typeface="Public Sans" charset="0"/>
                      </a:endParaRPr>
                    </a:p>
                  </a:txBody>
                  <a:tcPr marL="66675" marR="66675" marT="66675" marB="66675">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9"/>
                    </a:solidFill>
                  </a:tcPr>
                </a:tc>
                <a:tc>
                  <a:txBody>
                    <a:bodyPr/>
                    <a:lstStyle/>
                    <a:p>
                      <a:pPr marL="0" indent="0" algn="r">
                        <a:lnSpc>
                          <a:spcPts val="2100"/>
                        </a:lnSpc>
                        <a:buNone/>
                      </a:pPr>
                      <a:r>
                        <a:rPr lang="en-US" sz="1500" dirty="0">
                          <a:solidFill>
                            <a:srgbClr val="15233F"/>
                          </a:solidFill>
                          <a:latin typeface="Public Sans" pitchFamily="34" charset="0"/>
                          <a:ea typeface="Public Sans" pitchFamily="34" charset="-122"/>
                          <a:cs typeface="Public Sans" pitchFamily="34" charset="-120"/>
                        </a:rPr>
                        <a:t>+13</a:t>
                      </a:r>
                      <a:endParaRPr lang="en-US" sz="1500" dirty="0">
                        <a:latin typeface="Public Sans" charset="0"/>
                        <a:ea typeface="Public Sans" charset="0"/>
                        <a:cs typeface="Public Sans" charset="0"/>
                      </a:endParaRPr>
                    </a:p>
                  </a:txBody>
                  <a:tcPr marL="66675" marR="66675" marT="66675" marB="66675">
                    <a:lnL w="12700" cap="flat" cmpd="sng" algn="ctr">
                      <a:solidFill>
                        <a:srgbClr val="B8BCC6"/>
                      </a:solidFill>
                      <a:prstDash val="solid"/>
                      <a:round/>
                      <a:headEnd type="none" w="med" len="med"/>
                      <a:tailEnd type="none" w="med" len="med"/>
                    </a:lnL>
                    <a:lnR w="12700" cap="flat" cmpd="sng" algn="ctr">
                      <a:solidFill>
                        <a:srgbClr val="B8BCC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8BCC6"/>
                      </a:solidFill>
                      <a:prstDash val="solid"/>
                      <a:round/>
                      <a:headEnd type="none" w="med" len="med"/>
                      <a:tailEnd type="none" w="med" len="med"/>
                    </a:lnB>
                    <a:solidFill>
                      <a:srgbClr val="E6ECF9"/>
                    </a:solidFill>
                  </a:tcPr>
                </a:tc>
                <a:extLst>
                  <a:ext uri="{0D108BD9-81ED-4DB2-BD59-A6C34878D82A}">
                    <a16:rowId xmlns:a16="http://schemas.microsoft.com/office/drawing/2014/main" val="10005"/>
                  </a:ext>
                </a:extLst>
              </a:tr>
            </a:tbl>
          </a:graphicData>
        </a:graphic>
      </p:graphicFrame>
      <p:sp>
        <p:nvSpPr>
          <p:cNvPr id="6" name="Text 3"/>
          <p:cNvSpPr/>
          <p:nvPr/>
        </p:nvSpPr>
        <p:spPr>
          <a:xfrm>
            <a:off x="2489200" y="2922240"/>
            <a:ext cx="56847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Public Sans" pitchFamily="34" charset="0"/>
                <a:ea typeface="Public Sans" pitchFamily="34" charset="-122"/>
                <a:cs typeface="Public Sans" pitchFamily="34" charset="-120"/>
              </a:rPr>
              <a:t>+ 13</a:t>
            </a:r>
            <a:endParaRPr lang="en-US" sz="1600" dirty="0"/>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5233F"/>
                </a:solidFill>
                <a:latin typeface="Space Grotesk" pitchFamily="34" charset="0"/>
                <a:ea typeface="Space Grotesk" pitchFamily="34" charset="-122"/>
                <a:cs typeface="Space Grotesk" pitchFamily="34" charset="-120"/>
              </a:rPr>
              <a:t>Mida parandada?</a:t>
            </a:r>
            <a:endParaRPr lang="en-US" sz="3600" dirty="0"/>
          </a:p>
        </p:txBody>
      </p:sp>
      <p:sp>
        <p:nvSpPr>
          <p:cNvPr id="3" name="Text 1"/>
          <p:cNvSpPr/>
          <p:nvPr/>
        </p:nvSpPr>
        <p:spPr>
          <a:xfrm>
            <a:off x="812800" y="1671290"/>
            <a:ext cx="43180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557D6"/>
                </a:solidFill>
                <a:latin typeface="Space Grotesk" pitchFamily="34" charset="0"/>
                <a:ea typeface="Space Grotesk" pitchFamily="34" charset="-122"/>
                <a:cs typeface="Space Grotesk" pitchFamily="34" charset="-120"/>
              </a:rPr>
              <a:t>1</a:t>
            </a:r>
            <a:endParaRPr lang="en-US" sz="2800" dirty="0"/>
          </a:p>
        </p:txBody>
      </p:sp>
      <p:sp>
        <p:nvSpPr>
          <p:cNvPr id="4" name="Text 2"/>
          <p:cNvSpPr/>
          <p:nvPr/>
        </p:nvSpPr>
        <p:spPr>
          <a:xfrm>
            <a:off x="1447800" y="1771600"/>
            <a:ext cx="5961698"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Püüa erindid kinni ja lisa eestikeelsed vealehed</a:t>
            </a:r>
            <a:endParaRPr lang="en-US" sz="1800" dirty="0"/>
          </a:p>
        </p:txBody>
      </p:sp>
      <p:sp>
        <p:nvSpPr>
          <p:cNvPr id="5" name="Text 3"/>
          <p:cNvSpPr/>
          <p:nvPr/>
        </p:nvSpPr>
        <p:spPr>
          <a:xfrm>
            <a:off x="812800" y="2372320"/>
            <a:ext cx="43180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557D6"/>
                </a:solidFill>
                <a:latin typeface="Space Grotesk" pitchFamily="34" charset="0"/>
                <a:ea typeface="Space Grotesk" pitchFamily="34" charset="-122"/>
                <a:cs typeface="Space Grotesk" pitchFamily="34" charset="-120"/>
              </a:rPr>
              <a:t>2</a:t>
            </a:r>
            <a:endParaRPr lang="en-US" sz="2800" dirty="0"/>
          </a:p>
        </p:txBody>
      </p:sp>
      <p:sp>
        <p:nvSpPr>
          <p:cNvPr id="6" name="Text 4"/>
          <p:cNvSpPr/>
          <p:nvPr/>
        </p:nvSpPr>
        <p:spPr>
          <a:xfrm>
            <a:off x="1447800" y="2472630"/>
            <a:ext cx="4053721"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Lisa graafikule tuletise f′(x) joon</a:t>
            </a:r>
            <a:endParaRPr lang="en-US" sz="1800" dirty="0"/>
          </a:p>
        </p:txBody>
      </p:sp>
      <p:sp>
        <p:nvSpPr>
          <p:cNvPr id="7" name="Text 5"/>
          <p:cNvSpPr/>
          <p:nvPr/>
        </p:nvSpPr>
        <p:spPr>
          <a:xfrm>
            <a:off x="812800" y="3073350"/>
            <a:ext cx="43180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557D6"/>
                </a:solidFill>
                <a:latin typeface="Space Grotesk" pitchFamily="34" charset="0"/>
                <a:ea typeface="Space Grotesk" pitchFamily="34" charset="-122"/>
                <a:cs typeface="Space Grotesk" pitchFamily="34" charset="-120"/>
              </a:rPr>
              <a:t>3</a:t>
            </a:r>
            <a:endParaRPr lang="en-US" sz="2800" dirty="0"/>
          </a:p>
        </p:txBody>
      </p:sp>
      <p:sp>
        <p:nvSpPr>
          <p:cNvPr id="8" name="Text 6"/>
          <p:cNvSpPr/>
          <p:nvPr/>
        </p:nvSpPr>
        <p:spPr>
          <a:xfrm>
            <a:off x="1447800" y="3173661"/>
            <a:ext cx="5930146"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Arvuta määramispiirkond õigesti ka erijuhtudel</a:t>
            </a:r>
            <a:endParaRPr lang="en-US" sz="1800" dirty="0"/>
          </a:p>
        </p:txBody>
      </p:sp>
      <p:sp>
        <p:nvSpPr>
          <p:cNvPr id="9" name="Text 7"/>
          <p:cNvSpPr/>
          <p:nvPr/>
        </p:nvSpPr>
        <p:spPr>
          <a:xfrm>
            <a:off x="812800" y="3774380"/>
            <a:ext cx="43180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557D6"/>
                </a:solidFill>
                <a:latin typeface="Space Grotesk" pitchFamily="34" charset="0"/>
                <a:ea typeface="Space Grotesk" pitchFamily="34" charset="-122"/>
                <a:cs typeface="Space Grotesk" pitchFamily="34" charset="-120"/>
              </a:rPr>
              <a:t>4</a:t>
            </a:r>
            <a:endParaRPr lang="en-US" sz="2800" dirty="0"/>
          </a:p>
        </p:txBody>
      </p:sp>
      <p:sp>
        <p:nvSpPr>
          <p:cNvPr id="10" name="Text 8"/>
          <p:cNvSpPr/>
          <p:nvPr/>
        </p:nvSpPr>
        <p:spPr>
          <a:xfrm>
            <a:off x="1447800" y="3874691"/>
            <a:ext cx="5769054"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Tee Teooria leht ja menüü telefonis mugavaks</a:t>
            </a:r>
            <a:endParaRPr lang="en-US" sz="1800" dirty="0"/>
          </a:p>
        </p:txBody>
      </p:sp>
      <p:sp>
        <p:nvSpPr>
          <p:cNvPr id="11" name="Text 9"/>
          <p:cNvSpPr/>
          <p:nvPr/>
        </p:nvSpPr>
        <p:spPr>
          <a:xfrm>
            <a:off x="812800" y="4475411"/>
            <a:ext cx="431800"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557D6"/>
                </a:solidFill>
                <a:latin typeface="Space Grotesk" pitchFamily="34" charset="0"/>
                <a:ea typeface="Space Grotesk" pitchFamily="34" charset="-122"/>
                <a:cs typeface="Space Grotesk" pitchFamily="34" charset="-120"/>
              </a:rPr>
              <a:t>5</a:t>
            </a:r>
            <a:endParaRPr lang="en-US" sz="2800" dirty="0"/>
          </a:p>
        </p:txBody>
      </p:sp>
      <p:sp>
        <p:nvSpPr>
          <p:cNvPr id="12" name="Text 10"/>
          <p:cNvSpPr/>
          <p:nvPr/>
        </p:nvSpPr>
        <p:spPr>
          <a:xfrm>
            <a:off x="1447800" y="4575721"/>
            <a:ext cx="4028003"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5233F"/>
                </a:solidFill>
                <a:latin typeface="Public Sans" pitchFamily="34" charset="0"/>
                <a:ea typeface="Public Sans" pitchFamily="34" charset="-122"/>
                <a:cs typeface="Public Sans" pitchFamily="34" charset="-120"/>
              </a:rPr>
              <a:t>Näita teadet, kui graafik ei laadi</a:t>
            </a:r>
            <a:endParaRPr lang="en-US" sz="1800" dirty="0"/>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33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5F0"/>
                </a:solidFill>
                <a:latin typeface="Space Grotesk" pitchFamily="34" charset="0"/>
                <a:ea typeface="Space Grotesk" pitchFamily="34" charset="-122"/>
                <a:cs typeface="Space Grotesk" pitchFamily="34" charset="-120"/>
              </a:rPr>
              <a:t>Kokkuvõte</a:t>
            </a:r>
            <a:endParaRPr lang="en-US" sz="3600" dirty="0"/>
          </a:p>
        </p:txBody>
      </p:sp>
      <p:sp>
        <p:nvSpPr>
          <p:cNvPr id="3" name="Text 1"/>
          <p:cNvSpPr/>
          <p:nvPr/>
        </p:nvSpPr>
        <p:spPr>
          <a:xfrm>
            <a:off x="812800" y="1705025"/>
            <a:ext cx="9156700" cy="469900"/>
          </a:xfrm>
          <a:prstGeom prst="rect">
            <a:avLst/>
          </a:prstGeom>
          <a:noFill/>
          <a:ln/>
        </p:spPr>
        <p:txBody>
          <a:bodyPr wrap="square" lIns="0" tIns="0" rIns="0" bIns="0" rtlCol="0" anchor="t">
            <a:normAutofit/>
          </a:bodyPr>
          <a:lstStyle/>
          <a:p>
            <a:pPr marL="0" indent="0" algn="l">
              <a:lnSpc>
                <a:spcPts val="3500"/>
              </a:lnSpc>
              <a:buNone/>
            </a:pPr>
            <a:r>
              <a:rPr lang="en-US" sz="2800" dirty="0">
                <a:solidFill>
                  <a:srgbClr val="F6F5F0"/>
                </a:solidFill>
                <a:latin typeface="Space Grotesk" pitchFamily="34" charset="0"/>
                <a:ea typeface="Space Grotesk" pitchFamily="34" charset="-122"/>
                <a:cs typeface="Space Grotesk" pitchFamily="34" charset="-120"/>
              </a:rPr>
              <a:t>Rakendus on peamiselt </a:t>
            </a:r>
            <a:r>
              <a:rPr lang="en-US" sz="2800" dirty="0">
                <a:solidFill>
                  <a:srgbClr val="8FB0FF"/>
                </a:solidFill>
                <a:latin typeface="Space Grotesk" pitchFamily="34" charset="0"/>
                <a:ea typeface="Space Grotesk" pitchFamily="34" charset="-122"/>
                <a:cs typeface="Space Grotesk" pitchFamily="34" charset="-120"/>
              </a:rPr>
              <a:t>hästi tehtud</a:t>
            </a:r>
            <a:r>
              <a:rPr lang="en-US" sz="2800" dirty="0">
                <a:solidFill>
                  <a:srgbClr val="F6F5F0"/>
                </a:solidFill>
                <a:latin typeface="Space Grotesk" pitchFamily="34" charset="0"/>
                <a:ea typeface="Space Grotesk" pitchFamily="34" charset="-122"/>
                <a:cs typeface="Space Grotesk" pitchFamily="34" charset="-120"/>
              </a:rPr>
              <a:t>.</a:t>
            </a:r>
            <a:endParaRPr lang="en-US" sz="2800" dirty="0"/>
          </a:p>
        </p:txBody>
      </p:sp>
      <p:sp>
        <p:nvSpPr>
          <p:cNvPr id="4" name="Text 2"/>
          <p:cNvSpPr/>
          <p:nvPr/>
        </p:nvSpPr>
        <p:spPr>
          <a:xfrm>
            <a:off x="654304" y="3548112"/>
            <a:ext cx="10883392" cy="665460"/>
          </a:xfrm>
          <a:prstGeom prst="rect">
            <a:avLst/>
          </a:prstGeom>
          <a:noFill/>
          <a:ln/>
        </p:spPr>
        <p:txBody>
          <a:bodyPr wrap="square" lIns="0" tIns="0" rIns="0" bIns="0" rtlCol="0" anchor="t">
            <a:normAutofit/>
          </a:bodyPr>
          <a:lstStyle/>
          <a:p>
            <a:pPr marL="0" indent="0" algn="ctr">
              <a:lnSpc>
                <a:spcPts val="5040"/>
              </a:lnSpc>
              <a:buNone/>
            </a:pPr>
            <a:r>
              <a:rPr lang="en-US" sz="3600" b="1" dirty="0">
                <a:solidFill>
                  <a:srgbClr val="F6F5F0"/>
                </a:solidFill>
                <a:latin typeface="Space Grotesk" pitchFamily="34" charset="0"/>
                <a:ea typeface="Space Grotesk" pitchFamily="34" charset="-122"/>
                <a:cs typeface="Space Grotesk" pitchFamily="34" charset="-120"/>
              </a:rPr>
              <a:t>Aitäh!</a:t>
            </a:r>
            <a:endParaRPr lang="en-US" sz="3600" dirty="0"/>
          </a:p>
        </p:txBody>
      </p:sp>
    </p:spTree>
  </p:cSld>
  <p:clrMapOvr>
    <a:masterClrMapping/>
  </p:clrMapOvr>
  <p:transition spd="slow">
    <p:cover/>
  </p:transition>
</p:sld>
</file>

<file path=ppt/theme/theme1.xml><?xml version="1.0" encoding="utf-8"?>
<a:theme xmlns:a="http://schemas.openxmlformats.org/drawingml/2006/main" name="Testimisaruanne">
  <a:themeElements>
    <a:clrScheme name="Testimisaruanne">
      <a:dk1>
        <a:srgbClr val="15233F"/>
      </a:dk1>
      <a:lt1>
        <a:srgbClr val="F6F5F0"/>
      </a:lt1>
      <a:dk2>
        <a:srgbClr val="4D586B"/>
      </a:dk2>
      <a:lt2>
        <a:srgbClr val="E0E0DE"/>
      </a:lt2>
      <a:accent1>
        <a:srgbClr val="2557D6"/>
      </a:accent1>
      <a:accent2>
        <a:srgbClr val="1F3358"/>
      </a:accent2>
      <a:accent3>
        <a:srgbClr val="FF8A5B"/>
      </a:accent3>
      <a:accent4>
        <a:srgbClr val="F2C94C"/>
      </a:accent4>
      <a:accent5>
        <a:srgbClr val="FBE9C2"/>
      </a:accent5>
      <a:accent6>
        <a:srgbClr val="6B4A00"/>
      </a:accent6>
      <a:hlink>
        <a:srgbClr val="0563C1"/>
      </a:hlink>
      <a:folHlink>
        <a:srgbClr val="954F72"/>
      </a:folHlink>
    </a:clrScheme>
    <a:fontScheme name="Testimisaruann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691</Words>
  <Application>Microsoft Macintosh PowerPoint</Application>
  <PresentationFormat>Широкоэкранный</PresentationFormat>
  <Paragraphs>125</Paragraphs>
  <Slides>12</Slides>
  <Notes>12</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12</vt:i4>
      </vt:variant>
    </vt:vector>
  </HeadingPairs>
  <TitlesOfParts>
    <vt:vector size="16" baseType="lpstr">
      <vt:lpstr>Space Grotesk</vt:lpstr>
      <vt:lpstr>Public Sans</vt:lpstr>
      <vt:lpstr>Arial</vt:lpstr>
      <vt:lpstr>Testimisaruanne</vt:lpstr>
      <vt:lpstr>Husseini funktsioonide uurimise veebirakenduse testimine</vt:lpstr>
      <vt:lpstr>Mida testiti?</vt:lpstr>
      <vt:lpstr>Kuidas testiti?</vt:lpstr>
      <vt:lpstr>Презентация PowerPoint</vt:lpstr>
      <vt:lpstr>Mis töötab hästi?</vt:lpstr>
      <vt:lpstr>Презентация PowerPoint</vt:lpstr>
      <vt:lpstr>Valem x^x jooksutab rakenduse kokku</vt:lpstr>
      <vt:lpstr>Teised olulised vead</vt:lpstr>
      <vt:lpstr>Ühiktestid</vt:lpstr>
      <vt:lpstr>Hinnang</vt:lpstr>
      <vt:lpstr>Mida parandada?</vt:lpstr>
      <vt:lpstr>Kokkuvõte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Testimisaruanne</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Maksim Ts</cp:lastModifiedBy>
  <cp:revision>2</cp:revision>
  <dcterms:created xsi:type="dcterms:W3CDTF">2026-10-26T14:38:21Z</dcterms:created>
  <dcterms:modified xsi:type="dcterms:W3CDTF">2026-10-26T14:44:57Z</dcterms:modified>
</cp:coreProperties>
</file>